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AEEE"/>
                </a:solidFill>
                <a:latin typeface="Calibri"/>
              </a:defRPr>
            </a:pPr>
            <a:r>
              <a:t>CDMO · AI · PHARMA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CF0F5"/>
                </a:solidFill>
                <a:latin typeface="Calibri"/>
              </a:defRPr>
            </a:pPr>
            <a:r>
              <a:t>AI 赋能 CDMO</a:t>
            </a:r>
            <a:br/>
            <a:r>
              <a:t>制药研发与生产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8C0"/>
                </a:solidFill>
                <a:latin typeface="Calibri"/>
              </a:defRPr>
            </a:pPr>
            <a:r>
              <a:t>从靶点发现到智能工厂 —— AI 重塑制药全产业链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B88A4"/>
                </a:solidFill>
                <a:latin typeface="Calibri"/>
              </a:defRPr>
            </a:pPr>
            <a:r>
              <a:t>药物发现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4754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B88A4"/>
                </a:solidFill>
                <a:latin typeface="Calibri"/>
              </a:defRPr>
            </a:pPr>
            <a:r>
              <a:t>工艺开发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4754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B88A4"/>
                </a:solidFill>
                <a:latin typeface="Calibri"/>
              </a:defRPr>
            </a:pPr>
            <a:r>
              <a:t>智能制造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4754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B88A4"/>
                </a:solidFill>
                <a:latin typeface="Calibri"/>
              </a:defRPr>
            </a:pPr>
            <a:r>
              <a:t>质量管控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475488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7B88A4"/>
                </a:solidFill>
                <a:latin typeface="Calibri"/>
              </a:defRPr>
            </a:pPr>
            <a:r>
              <a:t>供应链优化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B88A4"/>
                </a:solidFill>
                <a:latin typeface="Calibri"/>
              </a:defRPr>
            </a:pPr>
            <a:r>
              <a:t>2026 © CDMO AI Transformation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CDMO 行业与 AI 转型背景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全球医药研发生产外包的智能化机遇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146304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🏭 CDMO 核心价值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合同研发生产组织：连接药物研发与商业化生产的桥梁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服务覆盖：工艺开发 → 临床样品制备 → 商业化生产 → 供应链管理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全球 CDMO 市场持续增长，生物药/ADC/基因治疗成新增长极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303520" cy="146304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⚡ AI 转型驱动力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「十五五」规划全面实施「人工智能+」行动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工信部：到2027年打造100+数智药械工厂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FDA/EMA联合发布AI药物开发「良好实践」指南（2026.1）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3474720" cy="25603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⚠️ 现状挑战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55% CDMO 仍处于 AI 试点阶段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24% 完全没有 AI 应用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近半数仍依赖纸质 Batch Record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老旧系统 API 缺失，数据孤岛严重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新药研发平均周期 10+ 年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临床 II→III 期成功率不足 30%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566160"/>
            <a:ext cx="3474720" cy="25603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📊 市场数据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2026 全球 AI 制药市场 $8-10B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赋能 I 期临床成功率：75%（vs 传统~50%）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早期发现周期缩短 30-40%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预制先导化合物时间缩短至 12-18 个月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全球头部药企加注 AI 基础设施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70% 医疗机构正在积极使用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566160"/>
            <a:ext cx="3474720" cy="25603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🔬 政策红利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FDA AI/ML 行动计划鼓励自适应算法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NMPA 发布 AI 辅助研发指导原则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全球 AI 制药融资预计突破 $200 亿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中国 CDMO 智能化改造纳入政策补贴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「十五五」+ 新质生产力双轮驱动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数据安全 &amp; 合规监管体系逐步健全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AI 赋能 CDMO 全价值链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从靶点到患者的智能闭环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38100" cy="36576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1400" b="1">
                <a:solidFill>
                  <a:srgbClr val="4DAEEE"/>
                </a:solidFill>
                <a:latin typeface="Calibri"/>
              </a:defRPr>
            </a:pPr>
            <a:r>
              <a:t>靶点发现</a:t>
            </a:r>
            <a:br/>
            <a:r>
              <a:t>分子设计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AI 多模态靶点识别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生成式分子设计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ADMET 预测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Hit-to-Lead 优化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38100" cy="36576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0" y="228600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1400" b="1">
                <a:solidFill>
                  <a:srgbClr val="00E67E"/>
                </a:solidFill>
                <a:latin typeface="Calibri"/>
              </a:defRPr>
            </a:pPr>
            <a:r>
              <a:t>工艺开发</a:t>
            </a:r>
            <a:br/>
            <a:r>
              <a:t>CMC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数字孪生工艺模拟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DOE 智能设计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连续制造工艺开发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制剂配方 AI 预测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828800"/>
            <a:ext cx="38100" cy="36576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228600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1400" b="1">
                <a:solidFill>
                  <a:srgbClr val="F5A623"/>
                </a:solidFill>
                <a:latin typeface="Calibri"/>
              </a:defRPr>
            </a:pPr>
            <a:r>
              <a:t>临床生产</a:t>
            </a:r>
            <a:br/>
            <a:r>
              <a:t>样品制备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智能排产调度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PAT 实时监测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Batch Record 自动生成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偏差智能预警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828800"/>
            <a:ext cx="38100" cy="36576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0" y="228600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1400" b="1">
                <a:solidFill>
                  <a:srgbClr val="4DAEEE"/>
                </a:solidFill>
                <a:latin typeface="Calibri"/>
              </a:defRPr>
            </a:pPr>
            <a:r>
              <a:t>商业化</a:t>
            </a:r>
            <a:br/>
            <a:r>
              <a:t>规模生产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预测性维护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AI 视觉质检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黑灯工厂运营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能源优化管理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40" y="1828800"/>
            <a:ext cx="38100" cy="36576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0" y="228600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37160"/>
          <a:lstStyle/>
          <a:p>
            <a:pPr algn="ctr">
              <a:defRPr sz="1400" b="1">
                <a:solidFill>
                  <a:srgbClr val="00E67E"/>
                </a:solidFill>
                <a:latin typeface="Calibri"/>
              </a:defRPr>
            </a:pPr>
            <a:r>
              <a:t>供应链</a:t>
            </a:r>
            <a:br/>
            <a:r>
              <a:t>物流配送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需求智能预测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库存动态优化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冷链智能监控</a:t>
            </a:r>
          </a:p>
          <a:p>
            <a:pPr algn="ctr">
              <a:spcBef>
                <a:spcPts val="4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▹ 路径 AI 规划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606040" y="3474720"/>
            <a:ext cx="274320" cy="164592"/>
          </a:xfrm>
          <a:prstGeom prst="rightArrow">
            <a:avLst/>
          </a:prstGeom>
          <a:solidFill>
            <a:srgbClr val="2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892040" y="3474720"/>
            <a:ext cx="274320" cy="164592"/>
          </a:xfrm>
          <a:prstGeom prst="rightArrow">
            <a:avLst/>
          </a:prstGeom>
          <a:solidFill>
            <a:srgbClr val="2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178040" y="3474720"/>
            <a:ext cx="274320" cy="164592"/>
          </a:xfrm>
          <a:prstGeom prst="rightArrow">
            <a:avLst/>
          </a:prstGeom>
          <a:solidFill>
            <a:srgbClr val="2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464040" y="3474720"/>
            <a:ext cx="274320" cy="164592"/>
          </a:xfrm>
          <a:prstGeom prst="rightArrow">
            <a:avLst/>
          </a:prstGeom>
          <a:solidFill>
            <a:srgbClr val="2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6035040"/>
            <a:ext cx="10972800" cy="5029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00E67E"/>
                </a:solidFill>
                <a:latin typeface="Calibri"/>
              </a:defRPr>
            </a:pPr>
            <a:r>
              <a:t>📌 目标：数据驱动的端到端智能闭环，实现研发周期缩短 50%、生产成本降低 20%、产品合格率提升至 99.9%+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AI 加速药物发现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从大数据挖掘到生成式分子设计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🔬 AI 在发现阶段的关键应用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靶点发现：多模态大模型整合基因组学+蛋白质组学+临床数据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分子生成：生成式 AI 自主设计全新分子结构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虚拟筛选：AI 在数小时内完成传统方法数月的化合物筛选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ADMET 预测：深度学习模型预测药代动力学与毒性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抗体设计：Hit Rate 达 16-20%（传统计算仅 0.1%）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临床前候选化合物（PCC）周期：12-18 个月（传统 4.5 年）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合成测试分子数量降至传统方法的 1/10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候选分子筛选阳性率提升 50%+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📈 AI 临床成功率突破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IQVIA《全球 R&amp;D 趋势 2026》：AI 赋能 I 期成功率 75%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大幅领先于传统模式（约 50%）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验证性结果虽受限于样本量，但信号已清晰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全球大型药企开始将 AI 基础设施「私有化」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🏢 行业案例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英矽智能 Pharma.AI 平台：端到端 AI 药物发现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  成本降至 $300-500 万（传统 $1500 万+）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石药集团×阿斯利康：AI 多肽药物发现平台，交易 $18.5 亿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Earendil Labs×赛诺菲：AI 平台合作 $25.6 亿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英矽智能×施维雅：AI 肿瘤药合作 $8.88 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AI 驱动工艺开发与 CMC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数字孪生与智能实验加速工艺放大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🔄 数字孪生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知识图谱数字孪生实现工艺透明化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虚拟仿真优化生产参数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新药上市时间缩短 15-20%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跨场地、跨批次工艺一致性保障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🧪 AI + 自动化实验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「干湿闭环」智能研发体系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自动化实验平台 + AI 迭代优化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高通量筛选 + 智能数据分析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微流控 + 合成生物学集成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⚙️ 连续制造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端到端集成连续制造（ICM）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实时监控 + 自适应反馈控制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生产效率提升 30%+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产品一致性显著增强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🔍 过程分析技术（PAT）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光谱分析（拉曼/NIR）：实时监测关键质量属性（CQA）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软传感器（PLS/SVR/XGBoost）：预测难以直接测量的变量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机器学习模型预测产物滴度、代谢物浓度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实时释放检测（RTRT）替代传统离线分析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偏差预警与工艺漂移自动探测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🏗️ 中试放大智能化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驱动的小试→中试→放大参数转移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中试平台配备 10-100L 反应釜，AI 辅助工艺熟化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千倍放大鸿沟：AI 模型预测传质传热变化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计算机化系统验证（CSV）自动化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减少试错次数，降低 API/制剂开发成本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AI 智能制造与质量管控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从自动化到自主化 —— 打造数智药械工厂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🏭 智能工厂核心能力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全自动生产线 + AI 视觉检测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学习后极小瑕疵也能识别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100% 保证缺陷品不流出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连续制造 + 实时质量控制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机器人物料搬运与自动分拣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工业 IoT 采集全链路数据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数字孪生运营管理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📋 AI 批记录与合规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Agent 自动生成电子批记录（BPR）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LLM 解析生产指令→拆解任务→执行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自动打印领料单，唯一溯源码追溯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ISSUT 技术「看懂」老旧系统界面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非侵入式数据提取（无需 API 改造）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符合 ALCOA+ 数据完整性原则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实时填录与异常自修复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🔧 预测性维护与设备管理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IoT 传感器实时监控设备状态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预测设备故障与性能衰减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提前预警，非计划停机减少 40%+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设备闲置率降低 10-15%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备件库存智能优化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能源使用效率提升 15-20%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设备生命周期 AI 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AI 优化供应链与物流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智能预测、动态调度、全程可追溯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474720" cy="39319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📊 智能需求预测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分析历史数据+市场趋势+季节因素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原料需求预测准确率提升至 90%+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减少安全库存 20-30%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避免原料短缺或过期浪费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多工厂、多产品动态均衡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011680"/>
            <a:ext cx="3474720" cy="39319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🚚 智能物流调度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华为天筹 AI 求解器：排线效率提升 30 倍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人工排车从小时级→分钟级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仓间调拨及物流成本降低 20%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配送与拣选效率提升 15-18%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冷链全程 AI 温控与预警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3474720" cy="39319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🔗 全链路追溯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区块链 + AI 实现端到端可追溯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原料→生产→质检→配送→终端全链路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去中心化数据存证，不可篡改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召回响应时间从天级缩短至小时级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符合 GMP 数据完整性要求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126480"/>
            <a:ext cx="10972800" cy="5029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00E67E"/>
                </a:solidFill>
                <a:latin typeface="Calibri"/>
              </a:defRPr>
            </a:pPr>
            <a:r>
              <a:t>📌 柳药集团 × 华为案例：智能物流排线系统上线后，智能建模效率提升 30 倍，求解效率提升 30%，综合物流成本降低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AI Agent 赋能 CDMO 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从辅助工具到自主决策智能体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🤖 CDMO 典型 AI Agent 应用场景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研发助手 Agent：文献挖掘 → 靶点关联 → 实验方案自动生成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工艺开发 Agent：DOE 设计 → 实验执行 → 数据分析 → 参数优化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质检 Agent：自动检测 → 偏差分析 → 根因定位 → 纠正措施建议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供应链 Agent：需求预测 → 库存平衡 → 采购建议 → 物流调度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合规 Agent：法规解读 → 文档自动生成 → 审计准备 → 差距分析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设备维护 Agent：状态监控 → 异常预测 → 维护工单自动创建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多 Agent 协同实现「数字员工」群，7×24 小时自主运营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🧠 技术架构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底层：私有化 LLM + 知识图谱 + 企业数据湖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中间层：Agent 编排框架 + 工具调用 + 记忆模块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应用层：垂直场景 Agent 群 + 人机协作界面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自修复：异常识别 + 自动重试 + 人工升级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5303520" cy="201168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📈 商业价值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订单响应时间缩短 80%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Batch Record 自动生成杜绝人为错误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质检报告生成从 2 天→2 小时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合规审计准备时间减少 60%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实现「非侵入式」老旧系统智能化改造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全球标杆案例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头部药企与 CDMO 的 AI 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🇺🇸 礼来 LillyPod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全球首个药企自主运营 AI 制药工厂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搭载 1016 颗 NVIDIA Blackwell Ultra GPU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算力高达 9000 Petaflops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自建仅耗时 4 个月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贯穿临床开发与制造全流程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将专有数据与 AI 模型深度结合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🔑 核心启示：数据壁垒 = 核心壁垒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🇨🇭 罗氏 AI 部署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公布最大制药公司 GPU 部署计划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3500+ GPU 覆盖欧美混合云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推进全球 AI 基础设施扩充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赋能早期研发与临床试验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🔑 启示：大型药企 AI 军备竞赛升级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🇩🇪 博柯莱 × 华为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联合发布 AI 数智化制药一体机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开箱即用，上线周期缩短 80%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🇨🇳 中国标杆案例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广药集团 × 华为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  「算力-模型-场景」三层 AI 架构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  覆盖 40+ AI 赋能场景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  候选分子筛选阳性率提升 50%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复宏汉霖：AI 三大核心引擎之一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  新立项项目均经过 AI 验证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中国生物：全链条 AI 覆盖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  PCC 发现时间提升超 50%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  临床筛选周期缩短约 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AI 制药监管与合规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全球监管框架趋严，AI 验证成必修课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🇺🇸 FDA 监管进展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2026 年拟最终定稿 AI 指导原则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要求建立信度评估计划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高风险 AI 需提交模型架构与训练数据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AI/ML 行动计划鼓励自适应算法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🇪🇺 欧盟 AI 法案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2026.8.2 高风险条款正式生效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药物开发 AI 可能被归类为高风险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需满足透明度、人工监督等要求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不合规将面临高额罚款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🇨🇳 中国监管体系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NMPA 发布 AI 辅助研发指导原则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十五五「人工智能+」行动深化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服务备案制：已备案 611 款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数据安全与伦理审查体系完善中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📋 GMP 合规中 AI 验证要点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模型视为 GxP 计算机化系统，需完整验证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数据完整性（ALCOA+ 原则）是底线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模型漂移监测：AI 在生产中需持续验证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可解释性：黑盒模型面临监管风险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知识图谱数字孪生：可审计、可追溯、可解释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FDA/EMA 联合指南强调：数据质量 + 生命周期监测 + 模型透明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🔐 数据安全与隐私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制药数据高度敏感（基因组/临床/RWE）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联邦学习：多方数据不出门的联合建模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差分隐私保护患者数据安全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数据孤岛问题仍存在，行业联盟正在形成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80% 企业因数据安全风险放缓 AI 项目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安全体系 = 下一千亿级市场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CDMO 竞争格局重塑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AI 能力成为差异化核心壁垒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📊 CDMO AI 成熟度梯队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L1 信息化（~24%）：纸质流程，无 AI 应用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L2 试点期（~55%）：局部 Pilot 项目，ROI 未验证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L3 系统化（~15%）：多场景 AI 部署，数据平台搭建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L4 智能化（~5%）：AI Agent 深度嵌入，自主运营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L5 自适应（&lt;1%）：全自主决策，持续自优化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⚔️ 竞争要素迁移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传统竞争：产能规模 × 地域覆盖 × 成本/升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新竞争：AI 能力 × 数据资产 × 工艺智能化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数字孪生成为 CDMO 差异化新战场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「算力+算法+数据」完整交付能力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交付周期从 6-9 月缩短至 3 个月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🏆 先行者优势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最早采用 AI 的 CDMO 将获得显著的差异化优势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数据飞轮效应：越早积累 → 模型越准 → 客户越多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投资回报：头部企业 AI 投入产出比 &gt; 1:3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客户粘性增强：AI 深度嵌入客户研发流程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50%+ 的 CDMO 认为 AI 财务回报至少 3 年后才体现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当前正是布局窗口期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🚀 战略建议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顶层设计：制定 AI 转型路线图，分阶段推进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投资基础设施：建立统一数据平台（消除数据孤岛）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人才建设：招募 AI+制药复合型人才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生态合作：联合科技企业（华为/英伟达）共建 AI 平台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合规先行：AI 验证体系与 GMP 合规同步建设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场景切入：从 ROI 最高的质检/排产/预测性维护起步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AI 制药关键技术栈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从算力底座到业务应用的完整架构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121F"/>
                </a:solidFill>
                <a:latin typeface="Calibri"/>
              </a:defRPr>
            </a:pPr>
            <a:r>
              <a:t>业务应用层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AI 药物发现平台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8036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智能工艺开发系统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MES+AI 生产管控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8620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AI 质检 (视觉/PAT)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预测性维护系统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9204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智能供应链平台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82880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00E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121F"/>
                </a:solidFill>
                <a:latin typeface="Calibri"/>
              </a:defRPr>
            </a:pPr>
            <a:r>
              <a:t>AI 模型层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37744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分子生成模型 (GAN/扩散)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88036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大语言模型 (LLM Agent)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38328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知识图谱/图神经网络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88620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计算机视觉模型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438912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时序预测模型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489204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强化学习优化引擎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82880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121F"/>
                </a:solidFill>
                <a:latin typeface="Calibri"/>
              </a:defRPr>
            </a:pPr>
            <a:r>
              <a:t>数据平台层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37744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企业数据湖/数据中台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88036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数据治理与血缘追踪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38328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联邦学习平台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88620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特征工程与 MLops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38912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模型管理与版本控制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89204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合规审计日志系统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1828800"/>
            <a:ext cx="2560320" cy="411480"/>
          </a:xfrm>
          <a:prstGeom prst="roundRect">
            <a:avLst>
              <a:gd name="adj" fmla="val 3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121F"/>
                </a:solidFill>
                <a:latin typeface="Calibri"/>
              </a:defRPr>
            </a:pPr>
            <a:r>
              <a:t>算力基础设施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237744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GPU 集群 (NVIDIA/Huawei)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288036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混合云/边缘计算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338328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IoT 传感器网络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88620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5G/工业以太网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438912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信创国产化硬件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4892040"/>
            <a:ext cx="2560320" cy="384048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GMP 合规安全架构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C0"/>
                </a:solidFill>
                <a:latin typeface="Calibri"/>
              </a:defRPr>
            </a:pPr>
            <a:r>
              <a:t>🔗 层间关系：算力支撑模型训练 → 模型生成数据价值 → 应用层交付业务价值 → 业务数据回流迭代模型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CDMO AI 转型实施路线图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分阶段推进，持续迭代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200" b="1">
                <a:solidFill>
                  <a:srgbClr val="0A121F"/>
                </a:solidFill>
                <a:latin typeface="Calibri"/>
              </a:defRPr>
            </a:pPr>
            <a:r>
              <a:t>Phase 1</a:t>
            </a:r>
            <a:br/>
            <a:r>
              <a:t>基础建设</a:t>
            </a:r>
            <a:br/>
            <a:r>
              <a:t>(0-6月)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97480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数据治理与标准化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27832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IT/OT 网络融合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58184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IoT 传感器部署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88536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AI 人才招募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18888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核心场景选择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82880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00E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200" b="1">
                <a:solidFill>
                  <a:srgbClr val="0A121F"/>
                </a:solidFill>
                <a:latin typeface="Calibri"/>
              </a:defRPr>
            </a:pPr>
            <a:r>
              <a:t>Phase 2</a:t>
            </a:r>
            <a:br/>
            <a:r>
              <a:t>试点验证</a:t>
            </a:r>
            <a:br/>
            <a:r>
              <a:t>(6-18月)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697480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1-2 个高 ROI 场景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227832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预测性维护/视觉质检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3758184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AI Agent 批记录试点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4288536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ROI 验证与复盘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818888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组织能力建设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82880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200" b="1">
                <a:solidFill>
                  <a:srgbClr val="0A121F"/>
                </a:solidFill>
                <a:latin typeface="Calibri"/>
              </a:defRPr>
            </a:pPr>
            <a:r>
              <a:t>Phase 3</a:t>
            </a:r>
            <a:br/>
            <a:r>
              <a:t>规模化</a:t>
            </a:r>
            <a:br/>
            <a:r>
              <a:t>(18-36月)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697480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多场景 AI 复制推广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227832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数字孪生全产线覆盖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758184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AI Agent 群深度运营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288536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数据飞轮闭环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818888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行业标杆建设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828800"/>
            <a:ext cx="2560320" cy="685800"/>
          </a:xfrm>
          <a:prstGeom prst="roundRect">
            <a:avLst>
              <a:gd name="adj" fmla="val 8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defRPr sz="1200" b="1">
                <a:solidFill>
                  <a:srgbClr val="0A121F"/>
                </a:solidFill>
                <a:latin typeface="Calibri"/>
              </a:defRPr>
            </a:pPr>
            <a:r>
              <a:t>Phase 4</a:t>
            </a:r>
            <a:br/>
            <a:r>
              <a:t>自主运营</a:t>
            </a:r>
            <a:br/>
            <a:r>
              <a:t>(36月+)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697480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全自主决策 AI 工厂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227832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AI 驱动持续创新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3758184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跨场地 AI 协同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4288536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行业平台输出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4818888"/>
            <a:ext cx="2560320" cy="41148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ECF0F5"/>
                </a:solidFill>
                <a:latin typeface="Calibri"/>
              </a:defRPr>
            </a:pPr>
            <a:r>
              <a:t>▹ 生态网络构建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154680" y="1965960"/>
            <a:ext cx="228600" cy="164592"/>
          </a:xfrm>
          <a:prstGeom prst="rightArrow">
            <a:avLst/>
          </a:prstGeom>
          <a:solidFill>
            <a:srgbClr val="2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5989320" y="1965960"/>
            <a:ext cx="228600" cy="164592"/>
          </a:xfrm>
          <a:prstGeom prst="rightArrow">
            <a:avLst/>
          </a:prstGeom>
          <a:solidFill>
            <a:srgbClr val="2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8823960" y="1965960"/>
            <a:ext cx="228600" cy="164592"/>
          </a:xfrm>
          <a:prstGeom prst="rightArrow">
            <a:avLst/>
          </a:prstGeom>
          <a:solidFill>
            <a:srgbClr val="25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5212080"/>
            <a:ext cx="10972800" cy="685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6350">
            <a:solidFill>
              <a:srgbClr val="25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00E67E"/>
                </a:solidFill>
                <a:latin typeface="Calibri"/>
              </a:defRPr>
            </a:pPr>
            <a:r>
              <a:t>💡 建议路径：从「L1/L2 信息化/试点」起步 → 选择预测性维护或 AI 质检作为首个场景 → 快速验证 ROI → 逐步扩展至全价值链智能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风险挑战与应对策略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理性认知 AI 边界，稳健推进转型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🚧 技术风险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老旧系统集成复杂度高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数据质量差、标准化程度低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模型「黑盒」问题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模型漂移导致预测失效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应对：模块化实施 + 混合架构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💰 投资风险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初期投入高，回报周期长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50%+ CDMO 认为 ROI 需 3 年+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技术迭代快，选型失误风险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项目半途而废的沉没成本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应对：小步快跑，单场景验证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👥 人才风险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+ 制药复合人才极度稀缺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业务转译员不足（仅 6% 企业有）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内部培训覆盖率低（30% vs 45%）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组织变革阻力与认知差距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应对：外部引进 + 内部转型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⚠️ CDMO 特有挑战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GMP 合规限制 AI 快速迭代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系统变更后的再验证成本高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客户数据隔离与知识产权保护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多客户、多项目的复杂排产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生物药/ADC 等新模态工艺复杂性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🧠 AI 的边界（理性认知）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无法跳过临床实验的生物学验证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不能替代监管审评的不可协商约束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不能消除患者招募的现实困难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「10 倍快」的说法混淆了临床前加速与总周期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是工具，不是灵丹妙药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319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✅ 成功要素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CEO 层面的 AI 战略承诺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技术 + 业务双轮驱动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选择可量化的 ROI 指标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建立跨部门 AI 推进团队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与科技公司建立生态合作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合规与创新平衡发展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640080" cy="411480"/>
          </a:xfrm>
          <a:prstGeom prst="roundRect">
            <a:avLst>
              <a:gd name="adj" fmla="val 20000"/>
            </a:avLst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21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438912"/>
            <a:ext cx="2743200" cy="38100"/>
          </a:xfrm>
          <a:prstGeom prst="rect">
            <a:avLst/>
          </a:prstGeom>
          <a:solidFill>
            <a:srgbClr val="4D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CF0F5"/>
                </a:solidFill>
                <a:latin typeface="Calibri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C0"/>
                </a:solidFill>
                <a:latin typeface="Calibri"/>
              </a:defRPr>
            </a:pPr>
            <a:r>
              <a:t>2026 — CDMO AI 转型的关键窗口期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4D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🎯 核心判断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在 CDMO 的应用已从「可选项」变为「必答题」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2026 年是 CDMO AI 转型的关键窗口期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早期采用者将获得显著的差异化竞争优势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「数据飞轮」构建长期护城河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E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🔮 未来 3-5 年趋势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原生 CDMO 模式出现（从架构即 AI 内建）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AI Agent 深度融入 GMP 合规体系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跨企业数据联盟打破数据孤岛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连续制造 + AI 实现真正的 Pharma 4.0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49039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💼 行动建议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立即启动数据治理与 AI 战略规划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选择 1-2 个高 ROI 场景快速验证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投资人才：AI+制药复合团队建设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构建生态：科技公司 + 监管 + 产业联盟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749039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141E30"/>
          </a:solidFill>
          <a:ln w="25400">
            <a:solidFill>
              <a:srgbClr val="00C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 tIns="109728" bIns="73152"/>
          <a:lstStyle/>
          <a:p>
            <a:pPr algn="ctr">
              <a:defRPr sz="1400" b="1">
                <a:solidFill>
                  <a:srgbClr val="ECF0F5"/>
                </a:solidFill>
                <a:latin typeface="Calibri"/>
              </a:defRPr>
            </a:pPr>
            <a:r>
              <a:t>🌏 中国机遇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全球最大医药市场之一，AI 应用活跃度最高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国产算力（昇腾）+ 大模型（DeepSeek/Kimi）自主可控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政策强力支持（十五五 + 新质生产力）</a:t>
            </a:r>
          </a:p>
          <a:p>
            <a:pPr>
              <a:spcBef>
                <a:spcPts val="200"/>
              </a:spcBef>
              <a:defRPr sz="1000">
                <a:solidFill>
                  <a:srgbClr val="7B88A4"/>
                </a:solidFill>
                <a:latin typeface="Calibri"/>
              </a:defRPr>
            </a:pPr>
            <a:r>
              <a:t>中国 CDMO 有望在 AI 时代实现从跟跑到领跑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DAEEE"/>
                </a:solidFill>
                <a:latin typeface="Calibri"/>
              </a:defRPr>
            </a:pPr>
            <a:r>
              <a:t>AI CDMO Transformation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B88A4"/>
                </a:solidFill>
                <a:latin typeface="Calibri"/>
              </a:defRPr>
            </a:pPr>
            <a:r>
              <a:t>数据来源：Stanford AI Index / IQVIA / FDA / 工信部 / Bourne Partners / 量子位 / CB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4DAEEE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