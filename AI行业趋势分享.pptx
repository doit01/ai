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AI INDUSTRY 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0F0F5"/>
                </a:solidFill>
                <a:latin typeface="Calibri"/>
              </a:defRPr>
            </a:pPr>
            <a:r>
              <a:t>AI 行业趋势分享</a:t>
            </a:r>
            <a:br/>
            <a: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A8"/>
                </a:solidFill>
                <a:latin typeface="Calibri"/>
              </a:defRPr>
            </a:pPr>
            <a:r>
              <a:t>技术跃迁 · 商业落地 · 治理并行 —— 从参数竞赛到产业智能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846320"/>
            <a:ext cx="1371600" cy="274320"/>
          </a:xfrm>
          <a:prstGeom prst="roundRect">
            <a:avLst/>
          </a:prstGeom>
          <a:solidFill>
            <a:srgbClr val="1E1E30"/>
          </a:solidFill>
          <a:ln w="6350">
            <a:solidFill>
              <a:srgbClr val="32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8888A8"/>
                </a:solidFill>
                <a:latin typeface="Calibri"/>
              </a:defRPr>
            </a:pPr>
            <a:r>
              <a:t>中美博弈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4846320"/>
            <a:ext cx="1371600" cy="274320"/>
          </a:xfrm>
          <a:prstGeom prst="roundRect">
            <a:avLst/>
          </a:prstGeom>
          <a:solidFill>
            <a:srgbClr val="1E1E30"/>
          </a:solidFill>
          <a:ln w="6350">
            <a:solidFill>
              <a:srgbClr val="32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8888A8"/>
                </a:solidFill>
                <a:latin typeface="Calibri"/>
              </a:defRPr>
            </a:pPr>
            <a:r>
              <a:t>Agent爆发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3360" y="4846320"/>
            <a:ext cx="1371600" cy="274320"/>
          </a:xfrm>
          <a:prstGeom prst="roundRect">
            <a:avLst/>
          </a:prstGeom>
          <a:solidFill>
            <a:srgbClr val="1E1E30"/>
          </a:solidFill>
          <a:ln w="6350">
            <a:solidFill>
              <a:srgbClr val="32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8888A8"/>
                </a:solidFill>
                <a:latin typeface="Calibri"/>
              </a:defRPr>
            </a:pPr>
            <a:r>
              <a:t>国产崛起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4846320"/>
            <a:ext cx="1371600" cy="274320"/>
          </a:xfrm>
          <a:prstGeom prst="roundRect">
            <a:avLst/>
          </a:prstGeom>
          <a:solidFill>
            <a:srgbClr val="1E1E30"/>
          </a:solidFill>
          <a:ln w="6350">
            <a:solidFill>
              <a:srgbClr val="32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8888A8"/>
                </a:solidFill>
                <a:latin typeface="Calibri"/>
              </a:defRPr>
            </a:pPr>
            <a:r>
              <a:t>算力瓶颈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4846320"/>
            <a:ext cx="1371600" cy="274320"/>
          </a:xfrm>
          <a:prstGeom prst="roundRect">
            <a:avLst/>
          </a:prstGeom>
          <a:solidFill>
            <a:srgbClr val="1E1E30"/>
          </a:solidFill>
          <a:ln w="6350">
            <a:solidFill>
              <a:srgbClr val="32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8888A8"/>
                </a:solidFill>
                <a:latin typeface="Calibri"/>
              </a:defRPr>
            </a:pPr>
            <a:r>
              <a:t>商业闭环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B4D8"/>
                </a:solidFill>
                <a:latin typeface="Calibri"/>
              </a:defRPr>
            </a:pPr>
            <a:r>
              <a:t>01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00B4D8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22860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0F0F5"/>
                </a:solidFill>
                <a:latin typeface="Calibri"/>
              </a:defRPr>
            </a:pPr>
            <a:r>
              <a:t>2026 AI 关键数据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8"/>
                </a:solidFill>
                <a:latin typeface="Calibri"/>
              </a:defRPr>
            </a:pPr>
            <a:r>
              <a:t>全球产业全景速览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$7万亿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88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A8"/>
                </a:solidFill>
                <a:latin typeface="Calibri"/>
              </a:defRPr>
            </a:pPr>
            <a:r>
              <a:t>生成式AI全球经济价值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$5817亿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788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A8"/>
                </a:solidFill>
                <a:latin typeface="Calibri"/>
              </a:defRPr>
            </a:pPr>
            <a:r>
              <a:t>2025全球企业AI投资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88%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788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A8"/>
                </a:solidFill>
                <a:latin typeface="Calibri"/>
              </a:defRPr>
            </a:pPr>
            <a:r>
              <a:t>全球企业AI采用率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53%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2788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A8"/>
                </a:solidFill>
                <a:latin typeface="Calibri"/>
              </a:defRPr>
            </a:pPr>
            <a:r>
              <a:t>生成式AI全球人口渗透率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474720"/>
            <a:ext cx="5303520" cy="2560320"/>
          </a:xfrm>
          <a:prstGeom prst="roundRect">
            <a:avLst>
              <a:gd name="adj" fmla="val 4000"/>
            </a:avLst>
          </a:prstGeom>
          <a:solidFill>
            <a:srgbClr val="1E1E30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F0F0F5"/>
                </a:solidFill>
                <a:latin typeface="Calibri"/>
              </a:defRPr>
            </a:pPr>
            <a:r>
              <a:t>🏆 中美差距仅剩 2.7%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Anthropic 企业市场份额首次超越 OpenAI（34.4% vs）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中国 AI 应用月访问量突破 9 亿，日活同比暴涨 223%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2025 全球 AI 创业公司 ARR 达 $800 亿，OpenAI+Anthropic 占 89%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474720"/>
            <a:ext cx="5303520" cy="2560320"/>
          </a:xfrm>
          <a:prstGeom prst="roundRect">
            <a:avLst>
              <a:gd name="adj" fmla="val 4000"/>
            </a:avLst>
          </a:prstGeom>
          <a:solidFill>
            <a:srgbClr val="1E1E30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F0F0F5"/>
                </a:solidFill>
                <a:latin typeface="Calibri"/>
              </a:defRPr>
            </a:pPr>
            <a:r>
              <a:t>🇨🇳 中国 AI 加速度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日均 Token 调用量突破 140 万亿，两年增长超千倍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中国企业级 AI 智能体市场规模 2026 预计达 449 亿元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国产大模型 DeepSeek V4 / Kimi K2.6 进入百万上下文时代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B4D8"/>
                </a:solidFill>
                <a:latin typeface="Calibri"/>
              </a:defRPr>
            </a:pPr>
            <a: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00B4D8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22860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0F0F5"/>
                </a:solidFill>
                <a:latin typeface="Calibri"/>
              </a:defRPr>
            </a:pPr>
            <a:r>
              <a:t>中美 AI 博弈：差距抹平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8"/>
                </a:solidFill>
                <a:latin typeface="Calibri"/>
              </a:defRPr>
            </a:pPr>
            <a:r>
              <a:t>斯坦福 2026 AI 指数报告核心发现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3474720" cy="3840480"/>
          </a:xfrm>
          <a:prstGeom prst="roundRect">
            <a:avLst>
              <a:gd name="adj" fmla="val 4000"/>
            </a:avLst>
          </a:prstGeom>
          <a:solidFill>
            <a:srgbClr val="1E1E30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F0F0F5"/>
                </a:solidFill>
                <a:latin typeface="Calibri"/>
              </a:defRPr>
            </a:pPr>
            <a:r>
              <a:t>📊 性能差距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中美 AI 模型性能差距缩小至 2.7%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2026.2 单月 8 个旗舰模型同月发布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Anthropic 领先优势仅剩 39 分（百分制）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Anthropic 企业市占首超 OpenAI: 34.4%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2286000"/>
            <a:ext cx="3474720" cy="3840480"/>
          </a:xfrm>
          <a:prstGeom prst="roundRect">
            <a:avLst>
              <a:gd name="adj" fmla="val 4000"/>
            </a:avLst>
          </a:prstGeom>
          <a:solidFill>
            <a:srgbClr val="1E1E30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F0F0F5"/>
                </a:solidFill>
                <a:latin typeface="Calibri"/>
              </a:defRPr>
            </a:pPr>
            <a:r>
              <a:t>💰 投资对比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2025 美国私募 AI 投资 $2859 亿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美国一年新增 1953 家 AI 创业公司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是中国（第二）的 10 倍以上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中国 AI 基础设施投资加速追赶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2286000"/>
            <a:ext cx="3474720" cy="3840480"/>
          </a:xfrm>
          <a:prstGeom prst="roundRect">
            <a:avLst>
              <a:gd name="adj" fmla="val 4000"/>
            </a:avLst>
          </a:prstGeom>
          <a:solidFill>
            <a:srgbClr val="1E1E30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F0F0F5"/>
                </a:solidFill>
                <a:latin typeface="Calibri"/>
              </a:defRPr>
            </a:pPr>
            <a:r>
              <a:t>🔬 人才与算力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进入美国的 AI 研究人员 7 年跌 89%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中国建成 85 台公共 AI 超算（全球第一）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中国职场 AI 使用率超 80%（全球 58%）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≥80% 中国员工经常使用 AI 工具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B4D8"/>
                </a:solidFill>
                <a:latin typeface="Calibri"/>
              </a:defRPr>
            </a:pPr>
            <a: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00B4D8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22860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0F0F5"/>
                </a:solidFill>
                <a:latin typeface="Calibri"/>
              </a:defRPr>
            </a:pPr>
            <a:r>
              <a:t>AI Agent 爆发元年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8"/>
                </a:solidFill>
                <a:latin typeface="Calibri"/>
              </a:defRPr>
            </a:pPr>
            <a:r>
              <a:t>从回答问题到完成任务 —— CB Insights 六大预判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2286000" cy="2926080"/>
          </a:xfrm>
          <a:prstGeom prst="roundRect">
            <a:avLst>
              <a:gd name="adj" fmla="val 4000"/>
            </a:avLst>
          </a:prstGeom>
          <a:solidFill>
            <a:srgbClr val="1E1E30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F0F0F5"/>
                </a:solidFill>
                <a:latin typeface="Calibri"/>
              </a:defRPr>
            </a:pPr>
            <a:r>
              <a:t>🎤 语音AI崛起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语音交互替代文本界面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客服、销售零人工干预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对话式 AI 代理主流化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2194560"/>
            <a:ext cx="2286000" cy="2926080"/>
          </a:xfrm>
          <a:prstGeom prst="roundRect">
            <a:avLst>
              <a:gd name="adj" fmla="val 4000"/>
            </a:avLst>
          </a:prstGeom>
          <a:solidFill>
            <a:srgbClr val="1E1E30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F0F0F5"/>
                </a:solidFill>
                <a:latin typeface="Calibri"/>
              </a:defRPr>
            </a:pPr>
            <a:r>
              <a:t>💼 垂直Agent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医疗、金融占 Agent 公司 19%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32% 已积极部署解决方案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抵押贷款、医疗运营自动化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2194560"/>
            <a:ext cx="2286000" cy="2926080"/>
          </a:xfrm>
          <a:prstGeom prst="roundRect">
            <a:avLst>
              <a:gd name="adj" fmla="val 4000"/>
            </a:avLst>
          </a:prstGeom>
          <a:solidFill>
            <a:srgbClr val="1E1E30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F0F0F5"/>
                </a:solidFill>
                <a:latin typeface="Calibri"/>
              </a:defRPr>
            </a:pPr>
            <a:r>
              <a:t>🛡️ 监控工具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Agent 监控成为必需品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测试/QA/代码审查自动化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「氛围编程」风险降低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2194560"/>
            <a:ext cx="3200400" cy="2926080"/>
          </a:xfrm>
          <a:prstGeom prst="roundRect">
            <a:avLst>
              <a:gd name="adj" fmla="val 4000"/>
            </a:avLst>
          </a:prstGeom>
          <a:solidFill>
            <a:srgbClr val="1E1E30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F0F0F5"/>
                </a:solidFill>
                <a:latin typeface="Calibri"/>
              </a:defRPr>
            </a:pPr>
            <a:r>
              <a:t>🔄 商业模式重构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AI 原生支付轨道与数字钱包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Agent 单次 Token 消耗达传统 AI 百倍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「数据护城河」重塑企业软件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并购潮席卷 Agent 领域（35+ 笔）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394960"/>
            <a:ext cx="10881360" cy="822960"/>
          </a:xfrm>
          <a:prstGeom prst="roundRect">
            <a:avLst>
              <a:gd name="adj" fmla="val 4000"/>
            </a:avLst>
          </a:prstGeom>
          <a:solidFill>
            <a:srgbClr val="1E1E30"/>
          </a:solidFill>
          <a:ln w="6350">
            <a:solidFill>
              <a:srgbClr val="32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00B4D8"/>
                </a:solidFill>
                <a:latin typeface="Calibri"/>
              </a:defRPr>
            </a:pPr>
            <a:r>
              <a:t>📌 中国 Agent 市场：2025 年 212 亿 → 2026 年 449 亿（年复合增长率 &gt; 100%）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B4D8"/>
                </a:solidFill>
                <a:latin typeface="Calibri"/>
              </a:defRPr>
            </a:pPr>
            <a: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00B4D8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22860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0F0F5"/>
                </a:solidFill>
                <a:latin typeface="Calibri"/>
              </a:defRPr>
            </a:pPr>
            <a:r>
              <a:t>国产大模型崛起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8"/>
                </a:solidFill>
                <a:latin typeface="Calibri"/>
              </a:defRPr>
            </a:pPr>
            <a:r>
              <a:t>百万上下文原生时代，局部领先海外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5486400" cy="3200400"/>
          </a:xfrm>
          <a:prstGeom prst="roundRect">
            <a:avLst>
              <a:gd name="adj" fmla="val 4000"/>
            </a:avLst>
          </a:prstGeom>
          <a:solidFill>
            <a:srgbClr val="1E1E30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F0F0F5"/>
                </a:solidFill>
                <a:latin typeface="Calibri"/>
              </a:defRPr>
            </a:pPr>
            <a:r>
              <a:t>🚀 DeepSeek V4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混合注意力机制，1M token 推理成本降低 90%+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API 价格仅 ¥0.025/百万 tokens（GPT-5.5 的 1/7）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首轮融资估值 ¥3000 亿，创行业纪录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日 Token 调用从 10 万亿→140 万亿（两年增长超千倍）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286000"/>
            <a:ext cx="5486400" cy="3200400"/>
          </a:xfrm>
          <a:prstGeom prst="roundRect">
            <a:avLst>
              <a:gd name="adj" fmla="val 4000"/>
            </a:avLst>
          </a:prstGeom>
          <a:solidFill>
            <a:srgbClr val="1E1E30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F0F0F5"/>
                </a:solidFill>
                <a:latin typeface="Calibri"/>
              </a:defRPr>
            </a:pPr>
            <a:r>
              <a:t>⚡ Kimi K2.6 &amp; GLM-5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Kimi K2.6：Agent Swarm + 长程代码任务能力突出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K2.5 发布不到 20 天，收入超 2025 全年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月之暗面完成 ¥140 亿融资，估值 ¥1400 亿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国产模型与海外差距缩小至 3-6 个月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760720"/>
            <a:ext cx="11247120" cy="640080"/>
          </a:xfrm>
          <a:prstGeom prst="roundRect">
            <a:avLst>
              <a:gd name="adj" fmla="val 4000"/>
            </a:avLst>
          </a:prstGeom>
          <a:solidFill>
            <a:srgbClr val="1E1E30"/>
          </a:solidFill>
          <a:ln w="6350">
            <a:solidFill>
              <a:srgbClr val="32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00C98A"/>
                </a:solidFill>
                <a:latin typeface="Calibri"/>
              </a:defRPr>
            </a:pPr>
            <a:r>
              <a:t>📌 国产算力适配进入双向奔赴：华为昇腾 950、寒武纪思元已实现新模型 Day 0 适配，下半年昇腾超节点批量上市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B4D8"/>
                </a:solidFill>
                <a:latin typeface="Calibri"/>
              </a:defRPr>
            </a:pPr>
            <a: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00B4D8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22860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0F0F5"/>
                </a:solidFill>
                <a:latin typeface="Calibri"/>
              </a:defRPr>
            </a:pPr>
            <a:r>
              <a:t>AI 应用商业化加速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8"/>
                </a:solidFill>
                <a:latin typeface="Calibri"/>
              </a:defRPr>
            </a:pPr>
            <a:r>
              <a:t>从「好玩的 AI」到「离不开的 AI」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3474720" cy="4023360"/>
          </a:xfrm>
          <a:prstGeom prst="roundRect">
            <a:avLst>
              <a:gd name="adj" fmla="val 4000"/>
            </a:avLst>
          </a:prstGeom>
          <a:solidFill>
            <a:srgbClr val="1E1E30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F0F0F5"/>
                </a:solidFill>
                <a:latin typeface="Calibri"/>
              </a:defRPr>
            </a:pPr>
            <a:r>
              <a:t>📱 C 端爆发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2026.4 国内 AI 应用 Web 月访问量 9 亿+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APP 端月下载量超 2.4 亿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日活同比暴涨 223%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AI 创作 APP 端日活年增 449%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Kimi / 豆包 / 智谱付费模式跑通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生成式 AI 每年为美国消费者创造 $1720 亿价值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2194560"/>
            <a:ext cx="3474720" cy="4023360"/>
          </a:xfrm>
          <a:prstGeom prst="roundRect">
            <a:avLst>
              <a:gd name="adj" fmla="val 4000"/>
            </a:avLst>
          </a:prstGeom>
          <a:solidFill>
            <a:srgbClr val="1E1E30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F0F0F5"/>
                </a:solidFill>
                <a:latin typeface="Calibri"/>
              </a:defRPr>
            </a:pPr>
            <a:r>
              <a:t>🏢 B 端渗透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医疗：病历自动生成，书写时间减少 83%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金融：智能风控 + 合规审查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法律：文书自动生成 + 案例检索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制造：工业质检 + 预测性维护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零售：智能客服 + 个性化推荐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B 端 AI 投入 ROI 回收期缩短至 3 个月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2194560"/>
            <a:ext cx="3474720" cy="4023360"/>
          </a:xfrm>
          <a:prstGeom prst="roundRect">
            <a:avLst>
              <a:gd name="adj" fmla="val 4000"/>
            </a:avLst>
          </a:prstGeom>
          <a:solidFill>
            <a:srgbClr val="1E1E30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F0F0F5"/>
                </a:solidFill>
                <a:latin typeface="Calibri"/>
              </a:defRPr>
            </a:pPr>
            <a:r>
              <a:t>💰 经济影响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麦肯锡：生成式 AI 全球价值 $7 万亿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中国贡献约 $2 万亿（全球 1/3）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影响最大的 5 大中国行业：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  先进制造 / 电子半导体 / 消费品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  能源 / 银行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2030 年前中国 50% 工作内容将自动化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B4D8"/>
                </a:solidFill>
                <a:latin typeface="Calibri"/>
              </a:defRPr>
            </a:pPr>
            <a: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00B4D8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22860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0F0F5"/>
                </a:solidFill>
                <a:latin typeface="Calibri"/>
              </a:defRPr>
            </a:pPr>
            <a:r>
              <a:t>算力与能源瓶颈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8"/>
                </a:solidFill>
                <a:latin typeface="Calibri"/>
              </a:defRPr>
            </a:pPr>
            <a:r>
              <a:t>规模效应遭遇物理极限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30x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88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A8"/>
                </a:solidFill>
                <a:latin typeface="Calibri"/>
              </a:defRPr>
            </a:pPr>
            <a:r>
              <a:t>全球 AI 算力 3 年涨幅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60%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03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A8"/>
                </a:solidFill>
                <a:latin typeface="Calibri"/>
              </a:defRPr>
            </a:pPr>
            <a:r>
              <a:t>英伟达独占 GPU 份额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29.6GW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17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A8"/>
                </a:solidFill>
                <a:latin typeface="Calibri"/>
              </a:defRPr>
            </a:pPr>
            <a:r>
              <a:t>全球 AI 数据中心总功率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029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72,816t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532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A8"/>
                </a:solidFill>
                <a:latin typeface="Calibri"/>
              </a:defRPr>
            </a:pPr>
            <a:r>
              <a:t>Grok 4 单次训练碳排放（≈17000 辆车/年）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2286000"/>
            <a:ext cx="3840480" cy="3474720"/>
          </a:xfrm>
          <a:prstGeom prst="roundRect">
            <a:avLst>
              <a:gd name="adj" fmla="val 4000"/>
            </a:avLst>
          </a:prstGeom>
          <a:solidFill>
            <a:srgbClr val="1E1E30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F0F0F5"/>
                </a:solidFill>
                <a:latin typeface="Calibri"/>
              </a:defRPr>
            </a:pPr>
            <a:r>
              <a:t>⚡ 能源挑战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AI 竞争最终受制于能源成本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数据中心功率 = 纽约州高峰用电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芯片制造 100% 依赖台积电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稳定低成本电力成为战略资源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推理需求指数级增长 → IDC 业绩超预期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2286000"/>
            <a:ext cx="3840480" cy="3474720"/>
          </a:xfrm>
          <a:prstGeom prst="roundRect">
            <a:avLst>
              <a:gd name="adj" fmla="val 4000"/>
            </a:avLst>
          </a:prstGeom>
          <a:solidFill>
            <a:srgbClr val="1E1E30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F0F0F5"/>
                </a:solidFill>
                <a:latin typeface="Calibri"/>
              </a:defRPr>
            </a:pPr>
            <a:r>
              <a:t>🔮 算力未来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中国预计新增 AI 加速卡 11-47 万张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华为昇腾超节点下半年批量上市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国产算力 Day 0 适配新模型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推理成本持续下降驱动应用爆发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算力租赁与 IDC 行业迎高速增长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B4D8"/>
                </a:solidFill>
                <a:latin typeface="Calibri"/>
              </a:defRPr>
            </a:pPr>
            <a: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00B4D8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22860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0F0F5"/>
                </a:solidFill>
                <a:latin typeface="Calibri"/>
              </a:defRPr>
            </a:pPr>
            <a:r>
              <a:t>AI 入口争夺战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8"/>
                </a:solidFill>
                <a:latin typeface="Calibri"/>
              </a:defRPr>
            </a:pPr>
            <a:r>
              <a:t>AI 助手 → 下一代操作系统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3474720" cy="3657600"/>
          </a:xfrm>
          <a:prstGeom prst="roundRect">
            <a:avLst>
              <a:gd name="adj" fmla="val 4000"/>
            </a:avLst>
          </a:prstGeom>
          <a:solidFill>
            <a:srgbClr val="1E1E30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F0F0F5"/>
                </a:solidFill>
                <a:latin typeface="Calibri"/>
              </a:defRPr>
            </a:pPr>
            <a:r>
              <a:t>🪟 超级应用平台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微信/抖音成为主要 AI 服务载体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低频 APP 转为「智能体」在超级应用内闭环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交互从点击图标 → 自然语言对话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流量分发从「抢占安装量」→「抢占模型调用」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2286000"/>
            <a:ext cx="3474720" cy="3657600"/>
          </a:xfrm>
          <a:prstGeom prst="roundRect">
            <a:avLst>
              <a:gd name="adj" fmla="val 4000"/>
            </a:avLst>
          </a:prstGeom>
          <a:solidFill>
            <a:srgbClr val="1E1E30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F0F0F5"/>
                </a:solidFill>
                <a:latin typeface="Calibri"/>
              </a:defRPr>
            </a:pPr>
            <a:r>
              <a:t>🏗️ 基础设施建设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阿里：¥3800 亿 AI 基础设施投资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字节：¥1600 亿投入 AI（2026 年）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腾讯、百度：独立部门 + 架构升级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字节（内容流量）vs 阿里（生态服务）模式对决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2286000"/>
            <a:ext cx="3474720" cy="3657600"/>
          </a:xfrm>
          <a:prstGeom prst="roundRect">
            <a:avLst>
              <a:gd name="adj" fmla="val 4000"/>
            </a:avLst>
          </a:prstGeom>
          <a:solidFill>
            <a:srgbClr val="1E1E30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F0F0F5"/>
                </a:solidFill>
                <a:latin typeface="Calibri"/>
              </a:defRPr>
            </a:pPr>
            <a:r>
              <a:t>🥽 硬件新入口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AI 眼镜迎来普及拐点（国内供应链推动）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价格下探至大众消费区间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「听觉+视觉辅助」场景：实时翻译、识物百科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交互方式改变 → 带动硬件换机潮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B4D8"/>
                </a:solidFill>
                <a:latin typeface="Calibri"/>
              </a:defRPr>
            </a:pPr>
            <a: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00B4D8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22860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0F0F5"/>
                </a:solidFill>
                <a:latin typeface="Calibri"/>
              </a:defRPr>
            </a:pPr>
            <a:r>
              <a:t>AI 对就业与教育的冲击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8"/>
                </a:solidFill>
                <a:latin typeface="Calibri"/>
              </a:defRPr>
            </a:pPr>
            <a:r>
              <a:t>自动化加速，技能转型迫在眉睫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3474720" cy="4114800"/>
          </a:xfrm>
          <a:prstGeom prst="roundRect">
            <a:avLst>
              <a:gd name="adj" fmla="val 4000"/>
            </a:avLst>
          </a:prstGeom>
          <a:solidFill>
            <a:srgbClr val="1E1E30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F0F0F5"/>
                </a:solidFill>
                <a:latin typeface="Calibri"/>
              </a:defRPr>
            </a:pPr>
            <a:r>
              <a:t>📉 就业冲击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22-25 岁软件开发者就业下降 20%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入门岗位被 AI 精准替代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中国 2.2 亿岗位可能被自动化重塑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2030 年前 50% 工时内容将自动化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影响 2 亿中国劳动者（30% workforce）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2194560"/>
            <a:ext cx="3474720" cy="4114800"/>
          </a:xfrm>
          <a:prstGeom prst="roundRect">
            <a:avLst>
              <a:gd name="adj" fmla="val 4000"/>
            </a:avLst>
          </a:prstGeom>
          <a:solidFill>
            <a:srgbClr val="1E1E30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F0F0F5"/>
                </a:solidFill>
                <a:latin typeface="Calibri"/>
              </a:defRPr>
            </a:pPr>
            <a:r>
              <a:t>📚 教育与技能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正规教育跟不上 AI 发展速度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自学 AI 工程技能三大增长国：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  阿联酋 / 智利 / 南非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AI 转译员、产品经理等复合人才短缺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仅 30% 中国企业靠内训培养 AI 人才（全球 45%）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2194560"/>
            <a:ext cx="3474720" cy="4114800"/>
          </a:xfrm>
          <a:prstGeom prst="roundRect">
            <a:avLst>
              <a:gd name="adj" fmla="val 4000"/>
            </a:avLst>
          </a:prstGeom>
          <a:solidFill>
            <a:srgbClr val="1E1E30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F0F0F5"/>
                </a:solidFill>
                <a:latin typeface="Calibri"/>
              </a:defRPr>
            </a:pPr>
            <a:r>
              <a:t>🔬 科研爆发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自然科学 AI 论文同比增长 26-28%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「大语言模型 + 智能体」为当前核心研究范式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多智能体系统、强化学习为热点方向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中国和美国为全球研究双引擎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「高幻觉、高功耗、高成本」三大挑战仍待解决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B4D8"/>
                </a:solidFill>
                <a:latin typeface="Calibri"/>
              </a:defRPr>
            </a:pPr>
            <a: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00B4D8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22860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0F0F5"/>
                </a:solidFill>
                <a:latin typeface="Calibri"/>
              </a:defRPr>
            </a:pPr>
            <a:r>
              <a:t>AI 治理与安全监管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8"/>
                </a:solidFill>
                <a:latin typeface="Calibri"/>
              </a:defRPr>
            </a:pPr>
            <a:r>
              <a:t>从鼓励发展到前置审查，安全与发展并重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5303520" cy="3200400"/>
          </a:xfrm>
          <a:prstGeom prst="roundRect">
            <a:avLst>
              <a:gd name="adj" fmla="val 4000"/>
            </a:avLst>
          </a:prstGeom>
          <a:solidFill>
            <a:srgbClr val="1E1E30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F0F0F5"/>
                </a:solidFill>
                <a:latin typeface="Calibri"/>
              </a:defRPr>
            </a:pPr>
            <a:r>
              <a:t>🇺🇸 美国监管趋严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白宫拟要求 AI 公司发布新模型前接受国家安全审查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从鼓励发展 → 预审准入模式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最强模型越来越黑箱：95 个代表性模型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  中 80 个没有公开训练代码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Foundation Model Transparency Index 评分从 58 跌至 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286000"/>
            <a:ext cx="5303520" cy="3200400"/>
          </a:xfrm>
          <a:prstGeom prst="roundRect">
            <a:avLst>
              <a:gd name="adj" fmla="val 4000"/>
            </a:avLst>
          </a:prstGeom>
          <a:solidFill>
            <a:srgbClr val="1E1E30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F0F0F5"/>
                </a:solidFill>
                <a:latin typeface="Calibri"/>
              </a:defRPr>
            </a:pPr>
            <a:r>
              <a:t>🇨🇳 中国监管进展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「十五五」全面实施「人工智能+」行动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全国完成生成式 AI 服务备案 611 款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月均备案数较去年增长 55%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80% 企业因数据安全风险放缓 AI 项目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数据治理智能化 + AI 安全体系 = 下一个千亿市场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760720"/>
            <a:ext cx="10972800" cy="640080"/>
          </a:xfrm>
          <a:prstGeom prst="roundRect">
            <a:avLst>
              <a:gd name="adj" fmla="val 4000"/>
            </a:avLst>
          </a:prstGeom>
          <a:solidFill>
            <a:srgbClr val="1E1E30"/>
          </a:solidFill>
          <a:ln w="6350">
            <a:solidFill>
              <a:srgbClr val="32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8888A8"/>
                </a:solidFill>
                <a:latin typeface="Calibri"/>
              </a:defRPr>
            </a:pPr>
            <a:r>
              <a:t>📌 公众态度：59% 认为 AI 利大于弊（↑ 7%），但 52% 感到紧张（↑ 2%），专家与公众认知差距超 30 个百分点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B4D8"/>
                </a:solidFill>
                <a:latin typeface="Calibri"/>
              </a:defRPr>
            </a:pPr>
            <a: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00B4D8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22860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0F0F5"/>
                </a:solidFill>
                <a:latin typeface="Calibri"/>
              </a:defRPr>
            </a:pPr>
            <a:r>
              <a:t>垂直行业 AI 渗透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8"/>
                </a:solidFill>
                <a:latin typeface="Calibri"/>
              </a:defRPr>
            </a:pPr>
            <a:r>
              <a:t>医疗、金融、法律 —— 率先规模化的高价值战场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3474720" cy="3657600"/>
          </a:xfrm>
          <a:prstGeom prst="roundRect">
            <a:avLst>
              <a:gd name="adj" fmla="val 4000"/>
            </a:avLst>
          </a:prstGeom>
          <a:solidFill>
            <a:srgbClr val="1E1E30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F0F0F5"/>
                </a:solidFill>
                <a:latin typeface="Calibri"/>
              </a:defRPr>
            </a:pPr>
            <a:r>
              <a:t>🏥 医疗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就诊对话 → 自动生成临床记录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医生写病历时间减少 83%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职业倦怠显著下降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AI 影像诊断覆盖率持续提升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医疗 Agent 渗透率超 50%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2286000"/>
            <a:ext cx="3474720" cy="3657600"/>
          </a:xfrm>
          <a:prstGeom prst="roundRect">
            <a:avLst>
              <a:gd name="adj" fmla="val 4000"/>
            </a:avLst>
          </a:prstGeom>
          <a:solidFill>
            <a:srgbClr val="1E1E30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F0F0F5"/>
                </a:solidFill>
                <a:latin typeface="Calibri"/>
              </a:defRPr>
            </a:pPr>
            <a:r>
              <a:t>🏦 金融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智能风控 + 反欺诈系统升级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AI 投资顾问自动化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合规审查效率提升 10x+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抵押贷款处理自动化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金融 Agent 深度嵌入业务流程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2286000"/>
            <a:ext cx="3474720" cy="3657600"/>
          </a:xfrm>
          <a:prstGeom prst="roundRect">
            <a:avLst>
              <a:gd name="adj" fmla="val 4000"/>
            </a:avLst>
          </a:prstGeom>
          <a:solidFill>
            <a:srgbClr val="1E1E30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F0F0F5"/>
                </a:solidFill>
                <a:latin typeface="Calibri"/>
              </a:defRPr>
            </a:pPr>
            <a:r>
              <a:t>⚖️ 法律 &amp; 更多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法律文书自动生成与审查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AI 案例检索与预测分析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工业质检：AI 视觉检测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教育：自适应学习路径规划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零售：智能客服 + 动态定价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B4D8"/>
                </a:solidFill>
                <a:latin typeface="Calibri"/>
              </a:defRPr>
            </a:pPr>
            <a: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00B4D8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22860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0F0F5"/>
                </a:solidFill>
                <a:latin typeface="Calibri"/>
              </a:defRPr>
            </a:pPr>
            <a:r>
              <a:t>AI 内容与媒体革命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8"/>
                </a:solidFill>
                <a:latin typeface="Calibri"/>
              </a:defRPr>
            </a:pPr>
            <a:r>
              <a:t>AIGC 从辅助工具走向全流程自动生成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3474720" cy="4114800"/>
          </a:xfrm>
          <a:prstGeom prst="roundRect">
            <a:avLst>
              <a:gd name="adj" fmla="val 4000"/>
            </a:avLst>
          </a:prstGeom>
          <a:solidFill>
            <a:srgbClr val="1E1E30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F0F0F5"/>
                </a:solidFill>
                <a:latin typeface="Calibri"/>
              </a:defRPr>
            </a:pPr>
            <a:r>
              <a:t>🎬 AI 短剧/影视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2026 年 AI 全流程生成的头部短剧出现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剧本 → 视频生成 → 配音全程云端完成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成本重构：传统人力成本 → 算力成本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资金周转效率大幅提升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传统影视从业者职业门槛被重新定义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2194560"/>
            <a:ext cx="3474720" cy="4114800"/>
          </a:xfrm>
          <a:prstGeom prst="roundRect">
            <a:avLst>
              <a:gd name="adj" fmla="val 4000"/>
            </a:avLst>
          </a:prstGeom>
          <a:solidFill>
            <a:srgbClr val="1E1E30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F0F0F5"/>
                </a:solidFill>
                <a:latin typeface="Calibri"/>
              </a:defRPr>
            </a:pPr>
            <a:r>
              <a:t>🎨 多模态生成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Seedance 2.0 等视觉多模态模型能力突破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AI 创作 APP 日活年增 449%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内容生成从文本 → 图像 → 视频全模态覆盖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短剧产量攀升，制作模式质变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AI 已渗透至娱乐内容全产业链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2194560"/>
            <a:ext cx="3474720" cy="4114800"/>
          </a:xfrm>
          <a:prstGeom prst="roundRect">
            <a:avLst>
              <a:gd name="adj" fmla="val 4000"/>
            </a:avLst>
          </a:prstGeom>
          <a:solidFill>
            <a:srgbClr val="1E1E30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F0F0F5"/>
                </a:solidFill>
                <a:latin typeface="Calibri"/>
              </a:defRPr>
            </a:pPr>
            <a:r>
              <a:t>🔄 分发逻辑变革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短剧成本重构：算力成为主要支出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传统人力成本大幅下降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资方资金周转效率显著提升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互联网流量从「安装量」→「模型调用」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AI 嵌入操作系统/硬件/生活场景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B4D8"/>
                </a:solidFill>
                <a:latin typeface="Calibri"/>
              </a:defRPr>
            </a:pPr>
            <a: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00B4D8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22860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0F0F5"/>
                </a:solidFill>
                <a:latin typeface="Calibri"/>
              </a:defRPr>
            </a:pPr>
            <a:r>
              <a:t>总结与展望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8"/>
                </a:solidFill>
                <a:latin typeface="Calibri"/>
              </a:defRPr>
            </a:pPr>
            <a:r>
              <a:t>2026 — AI 的「祛魅时刻」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5303520" cy="1463040"/>
          </a:xfrm>
          <a:prstGeom prst="roundRect">
            <a:avLst>
              <a:gd name="adj" fmla="val 4000"/>
            </a:avLst>
          </a:prstGeom>
          <a:solidFill>
            <a:srgbClr val="1E1E30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F0F0F5"/>
                </a:solidFill>
                <a:latin typeface="Calibri"/>
              </a:defRPr>
            </a:pPr>
            <a:r>
              <a:t>🎯 2026 关键词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祛魅：不再为「能写诗」兴奋，回归「能否降本增收」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重构：AI 像水电一样寻常时，才开始真正重构商业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286000"/>
            <a:ext cx="5303520" cy="1463040"/>
          </a:xfrm>
          <a:prstGeom prst="roundRect">
            <a:avLst>
              <a:gd name="adj" fmla="val 4000"/>
            </a:avLst>
          </a:prstGeom>
          <a:solidFill>
            <a:srgbClr val="1E1E30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F0F0F5"/>
                </a:solidFill>
                <a:latin typeface="Calibri"/>
              </a:defRPr>
            </a:pPr>
            <a:r>
              <a:t>⚡ 核心转变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从「好玩的 AI」→「离不开的 AI」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从「技术秀肌肉」→「资本拼内力」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从「叙事估值」→「基本面估值」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023360"/>
            <a:ext cx="5303520" cy="1463040"/>
          </a:xfrm>
          <a:prstGeom prst="roundRect">
            <a:avLst>
              <a:gd name="adj" fmla="val 4000"/>
            </a:avLst>
          </a:prstGeom>
          <a:solidFill>
            <a:srgbClr val="1E1E30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F0F0F5"/>
                </a:solidFill>
                <a:latin typeface="Calibri"/>
              </a:defRPr>
            </a:pPr>
            <a:r>
              <a:t>🔮 未来机会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垂直场景深耕 &gt; 通用模型比拼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专用 AI：法律、医疗、工业质检等专业壁垒领域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机会从「做更好的通用 AI」→「领域内无可替代的专用 AI」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4023360"/>
            <a:ext cx="5303520" cy="1463040"/>
          </a:xfrm>
          <a:prstGeom prst="roundRect">
            <a:avLst>
              <a:gd name="adj" fmla="val 4000"/>
            </a:avLst>
          </a:prstGeom>
          <a:solidFill>
            <a:srgbClr val="1E1E30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F0F0F5"/>
                </a:solidFill>
                <a:latin typeface="Calibri"/>
              </a:defRPr>
            </a:pPr>
            <a:r>
              <a:t>⚠️ 关键警示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寡头格局加剧：OpenAI + Anthropic 占 89% 收入份额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入门岗位被 AI 精准替代，技能转型迫在眉睫</a:t>
            </a:r>
          </a:p>
          <a:p>
            <a:pPr>
              <a:spcBef>
                <a:spcPts val="200"/>
              </a:spcBef>
              <a:defRPr sz="1000">
                <a:solidFill>
                  <a:srgbClr val="8888A8"/>
                </a:solidFill>
                <a:latin typeface="Calibri"/>
              </a:defRPr>
            </a:pPr>
            <a:r>
              <a:t>能源成本将直接影响 AI 服务的定价和普及速度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B4D8"/>
                </a:solidFill>
                <a:latin typeface="Calibri"/>
              </a:defRPr>
            </a:pPr>
            <a:r>
              <a:t>13 /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Calibri"/>
              </a:defRPr>
            </a:pPr>
            <a:r>
              <a:t>AI INDUSTRY TRENDS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0F0F5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A8"/>
                </a:solidFill>
                <a:latin typeface="Calibri"/>
              </a:defRPr>
            </a:pPr>
            <a:r>
              <a:t>技术跃迁 · 商业落地 · 治理并行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A8"/>
                </a:solidFill>
                <a:latin typeface="Calibri"/>
              </a:defRPr>
            </a:pPr>
            <a:r>
              <a:t>2026 © AI Trends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AAAC8"/>
                </a:solidFill>
                <a:latin typeface="Calibri"/>
              </a:defRPr>
            </a:pPr>
            <a:r>
              <a:t>数据来源：Stanford AI Index Report / CB Insights / McKinsey / 量子位智库 / 智源研究院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B4D8"/>
                </a:solidFill>
                <a:latin typeface="Calibri"/>
              </a:defRPr>
            </a:pPr>
            <a: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