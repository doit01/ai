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937760" y="1645920"/>
            <a:ext cx="1645920" cy="27432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A1A2E"/>
                </a:solidFill>
                <a:latin typeface="Calibri"/>
              </a:defRPr>
            </a:pPr>
            <a:r>
              <a:t>HARNESS 演示项目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94560"/>
            <a:ext cx="9418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5F5F5"/>
                </a:solidFill>
                <a:latin typeface="Calibri"/>
              </a:defRPr>
            </a:pPr>
            <a:r>
              <a:t>全栈 Spring Boot 4</a:t>
            </a:r>
            <a:br/>
            <a:r>
              <a:t>+ Vue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20624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090B0"/>
                </a:solidFill>
                <a:latin typeface="Calibri"/>
              </a:defRPr>
            </a:pPr>
            <a:r>
              <a:t>JPA 关联关系实战 · 多智能体编排 (OMO)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5029200"/>
            <a:ext cx="1188720" cy="256032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090B0"/>
                </a:solidFill>
                <a:latin typeface="Calibri"/>
              </a:defRPr>
            </a:pPr>
            <a:r>
              <a:t>JDK 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5029200"/>
            <a:ext cx="1188720" cy="256032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090B0"/>
                </a:solidFill>
                <a:latin typeface="Calibri"/>
              </a:defRPr>
            </a:pPr>
            <a:r>
              <a:t>Spring Boot 4.0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5029200"/>
            <a:ext cx="1188720" cy="256032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090B0"/>
                </a:solidFill>
                <a:latin typeface="Calibri"/>
              </a:defRPr>
            </a:pPr>
            <a:r>
              <a:t>PostgreSQL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5029200"/>
            <a:ext cx="1188720" cy="256032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090B0"/>
                </a:solidFill>
                <a:latin typeface="Calibri"/>
              </a:defRPr>
            </a:pPr>
            <a:r>
              <a:t>Naive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6B35"/>
                </a:solidFill>
                <a:latin typeface="Calibri"/>
              </a:defRPr>
            </a:pPr>
            <a:r>
              <a:t>01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6B35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2743200" cy="50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F5F5"/>
                </a:solidFill>
                <a:latin typeface="Calibri"/>
              </a:defRPr>
            </a:pPr>
            <a:r>
              <a:t>项目导航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090B0"/>
                </a:solidFill>
                <a:latin typeface="Calibri"/>
              </a:defRPr>
            </a:pPr>
            <a:r>
              <a:t>六个核心功能模块，覆盖 RBAC、多对多、人员管理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26080"/>
            <a:ext cx="3200400" cy="1645920"/>
          </a:xfrm>
          <a:prstGeom prst="roundRect">
            <a:avLst>
              <a:gd name="adj" fmla="val 5000"/>
            </a:avLst>
          </a:prstGeom>
          <a:solidFill>
            <a:srgbClr val="252542"/>
          </a:solidFill>
          <a:ln w="6350">
            <a:solidFill>
              <a:srgbClr val="3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73152"/>
          <a:lstStyle/>
          <a:p>
            <a:pPr algn="ctr">
              <a:defRPr sz="1500" b="1">
                <a:solidFill>
                  <a:srgbClr val="F5F5F5"/>
                </a:solidFill>
                <a:latin typeface="Calibri"/>
              </a:defRPr>
            </a:pPr>
            <a:r>
              <a:t>🏢 部门</a:t>
            </a:r>
          </a:p>
          <a:p>
            <a:pPr>
              <a:spcBef>
                <a:spcPts val="300"/>
              </a:spcBef>
              <a:defRPr sz="1100">
                <a:solidFill>
                  <a:srgbClr val="9090B0"/>
                </a:solidFill>
                <a:latin typeface="Calibri"/>
              </a:defRPr>
            </a:pPr>
            <a:r>
              <a:t>部门树形结构与人员归属管理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2926080"/>
            <a:ext cx="3200400" cy="1645920"/>
          </a:xfrm>
          <a:prstGeom prst="roundRect">
            <a:avLst>
              <a:gd name="adj" fmla="val 5000"/>
            </a:avLst>
          </a:prstGeom>
          <a:solidFill>
            <a:srgbClr val="252542"/>
          </a:solidFill>
          <a:ln w="6350">
            <a:solidFill>
              <a:srgbClr val="3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73152"/>
          <a:lstStyle/>
          <a:p>
            <a:pPr algn="ctr">
              <a:defRPr sz="1500" b="1">
                <a:solidFill>
                  <a:srgbClr val="F5F5F5"/>
                </a:solidFill>
                <a:latin typeface="Calibri"/>
              </a:defRPr>
            </a:pPr>
            <a:r>
              <a:t>👥 用户</a:t>
            </a:r>
          </a:p>
          <a:p>
            <a:pPr>
              <a:spcBef>
                <a:spcPts val="300"/>
              </a:spcBef>
              <a:defRPr sz="1100">
                <a:solidFill>
                  <a:srgbClr val="9090B0"/>
                </a:solidFill>
                <a:latin typeface="Calibri"/>
              </a:defRPr>
            </a:pPr>
            <a:r>
              <a:t>用户 CRUD、角色关联、账号状态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2926080"/>
            <a:ext cx="3200400" cy="1645920"/>
          </a:xfrm>
          <a:prstGeom prst="roundRect">
            <a:avLst>
              <a:gd name="adj" fmla="val 5000"/>
            </a:avLst>
          </a:prstGeom>
          <a:solidFill>
            <a:srgbClr val="252542"/>
          </a:solidFill>
          <a:ln w="6350">
            <a:solidFill>
              <a:srgbClr val="3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73152"/>
          <a:lstStyle/>
          <a:p>
            <a:pPr algn="ctr">
              <a:defRPr sz="1500" b="1">
                <a:solidFill>
                  <a:srgbClr val="F5F5F5"/>
                </a:solidFill>
                <a:latin typeface="Calibri"/>
              </a:defRPr>
            </a:pPr>
            <a:r>
              <a:t>🔐 角色</a:t>
            </a:r>
          </a:p>
          <a:p>
            <a:pPr>
              <a:spcBef>
                <a:spcPts val="300"/>
              </a:spcBef>
              <a:defRPr sz="1100">
                <a:solidFill>
                  <a:srgbClr val="9090B0"/>
                </a:solidFill>
                <a:latin typeface="Calibri"/>
              </a:defRPr>
            </a:pPr>
            <a:r>
              <a:t>RBAC 角色定义与权限绑定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937760"/>
            <a:ext cx="3200400" cy="1645920"/>
          </a:xfrm>
          <a:prstGeom prst="roundRect">
            <a:avLst>
              <a:gd name="adj" fmla="val 5000"/>
            </a:avLst>
          </a:prstGeom>
          <a:solidFill>
            <a:srgbClr val="252542"/>
          </a:solidFill>
          <a:ln w="6350">
            <a:solidFill>
              <a:srgbClr val="3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73152"/>
          <a:lstStyle/>
          <a:p>
            <a:pPr algn="ctr">
              <a:defRPr sz="1500" b="1">
                <a:solidFill>
                  <a:srgbClr val="F5F5F5"/>
                </a:solidFill>
                <a:latin typeface="Calibri"/>
              </a:defRPr>
            </a:pPr>
            <a:r>
              <a:t>📋 菜单</a:t>
            </a:r>
          </a:p>
          <a:p>
            <a:pPr>
              <a:spcBef>
                <a:spcPts val="300"/>
              </a:spcBef>
              <a:defRPr sz="1100">
                <a:solidFill>
                  <a:srgbClr val="9090B0"/>
                </a:solidFill>
                <a:latin typeface="Calibri"/>
              </a:defRPr>
            </a:pPr>
            <a:r>
              <a:t>动态菜单树，权限驱动显隐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4937760"/>
            <a:ext cx="3200400" cy="1645920"/>
          </a:xfrm>
          <a:prstGeom prst="roundRect">
            <a:avLst>
              <a:gd name="adj" fmla="val 5000"/>
            </a:avLst>
          </a:prstGeom>
          <a:solidFill>
            <a:srgbClr val="252542"/>
          </a:solidFill>
          <a:ln w="6350">
            <a:solidFill>
              <a:srgbClr val="3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73152"/>
          <a:lstStyle/>
          <a:p>
            <a:pPr algn="ctr">
              <a:defRPr sz="1500" b="1">
                <a:solidFill>
                  <a:srgbClr val="F5F5F5"/>
                </a:solidFill>
                <a:latin typeface="Calibri"/>
              </a:defRPr>
            </a:pPr>
            <a:r>
              <a:t>🎓 选课</a:t>
            </a:r>
          </a:p>
          <a:p>
            <a:pPr>
              <a:spcBef>
                <a:spcPts val="300"/>
              </a:spcBef>
              <a:defRPr sz="1100">
                <a:solidFill>
                  <a:srgbClr val="9090B0"/>
                </a:solidFill>
                <a:latin typeface="Calibri"/>
              </a:defRPr>
            </a:pPr>
            <a:r>
              <a:t>ManyToMany 学生-课程关联示例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937760"/>
            <a:ext cx="3200400" cy="1645920"/>
          </a:xfrm>
          <a:prstGeom prst="roundRect">
            <a:avLst>
              <a:gd name="adj" fmla="val 5000"/>
            </a:avLst>
          </a:prstGeom>
          <a:solidFill>
            <a:srgbClr val="252542"/>
          </a:solidFill>
          <a:ln w="6350">
            <a:solidFill>
              <a:srgbClr val="3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73152"/>
          <a:lstStyle/>
          <a:p>
            <a:pPr algn="ctr">
              <a:defRPr sz="1500" b="1">
                <a:solidFill>
                  <a:srgbClr val="F5F5F5"/>
                </a:solidFill>
                <a:latin typeface="Calibri"/>
              </a:defRPr>
            </a:pPr>
            <a:r>
              <a:t>📖 介绍</a:t>
            </a:r>
          </a:p>
          <a:p>
            <a:pPr>
              <a:spcBef>
                <a:spcPts val="300"/>
              </a:spcBef>
              <a:defRPr sz="1100">
                <a:solidFill>
                  <a:srgbClr val="9090B0"/>
                </a:solidFill>
                <a:latin typeface="Calibri"/>
              </a:defRPr>
            </a:pPr>
            <a:r>
              <a:t>开发环境总览与工具索引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6B35"/>
                </a:solidFill>
                <a:latin typeface="Calibri"/>
              </a:defRPr>
            </a:pPr>
            <a:r>
              <a:t>02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6B35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2743200" cy="50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F5F5"/>
                </a:solidFill>
                <a:latin typeface="Calibri"/>
              </a:defRPr>
            </a:pPr>
            <a:r>
              <a:t>Superpowers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090B0"/>
                </a:solidFill>
                <a:latin typeface="Calibri"/>
              </a:defRPr>
            </a:pPr>
            <a:r>
              <a:t>obra 出品的高分插件（186k ⭐），注入软件工程最佳实践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645920" cy="27432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A1A2E"/>
                </a:solidFill>
                <a:latin typeface="Calibri"/>
              </a:defRPr>
            </a:pPr>
            <a:r>
              <a:t>安装方式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90B0"/>
                </a:solidFill>
                <a:latin typeface="Calibri"/>
              </a:defRPr>
            </a:pPr>
            <a:r>
              <a:t>▸ opencode.jsonc plugins 添加全局插件</a:t>
            </a:r>
            <a:br/>
            <a:r>
              <a:t>▸ 验证命令："Do you have superpowers?"</a:t>
            </a:r>
            <a:br/>
            <a:r>
              <a:t>▸ 插件源：superpowers@git+https://github.com/obra/superpowers.git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743200"/>
            <a:ext cx="1645920" cy="27432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A1A2E"/>
                </a:solidFill>
                <a:latin typeface="Calibri"/>
              </a:defRPr>
            </a:pPr>
            <a:r>
              <a:t>常用技能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0" y="3108960"/>
          <a:ext cx="5029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017520"/>
              </a:tblGrid>
              <a:tr h="391885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6B35"/>
                          </a:solidFill>
                        </a:defRPr>
                      </a:pPr>
                      <a:r>
                        <a:t>技能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6B35"/>
                          </a:solidFill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t>brainstorming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090B0"/>
                          </a:solidFill>
                        </a:defRPr>
                      </a:pPr>
                      <a:r>
                        <a:t>方案头脑风暴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t>tdd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090B0"/>
                          </a:solidFill>
                        </a:defRPr>
                      </a:pPr>
                      <a:r>
                        <a:t>测试驱动开发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t>code-review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090B0"/>
                          </a:solidFill>
                        </a:defRPr>
                      </a:pPr>
                      <a:r>
                        <a:t>代码审查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t>refactoring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090B0"/>
                          </a:solidFill>
                        </a:defRPr>
                      </a:pPr>
                      <a:r>
                        <a:t>安全重构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t>debugging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090B0"/>
                          </a:solidFill>
                        </a:defRPr>
                      </a:pPr>
                      <a:r>
                        <a:t>结构化调试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9189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t>planning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090B0"/>
                          </a:solidFill>
                        </a:defRPr>
                      </a:pPr>
                      <a:r>
                        <a:t>技术方案规划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6B35"/>
                </a:solidFill>
                <a:latin typeface="Calibri"/>
              </a:defRPr>
            </a:pPr>
            <a:r>
              <a:t>03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6B35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2743200" cy="50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F5F5"/>
                </a:solidFill>
                <a:latin typeface="Calibri"/>
              </a:defRPr>
            </a:pPr>
            <a:r>
              <a:t>OMO 多智能体系统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090B0"/>
                </a:solidFill>
                <a:latin typeface="Calibri"/>
              </a:defRPr>
            </a:pPr>
            <a:r>
              <a:t>Oh My OpenAgent — 用 ultrawork / ulw 触发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26080"/>
            <a:ext cx="3474720" cy="1280160"/>
          </a:xfrm>
          <a:prstGeom prst="roundRect">
            <a:avLst>
              <a:gd name="adj" fmla="val 5000"/>
            </a:avLst>
          </a:prstGeom>
          <a:solidFill>
            <a:srgbClr val="252542"/>
          </a:solidFill>
          <a:ln w="317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73152"/>
          <a:lstStyle/>
          <a:p>
            <a:pPr algn="ctr">
              <a:defRPr sz="1500" b="1">
                <a:solidFill>
                  <a:srgbClr val="F5F5F5"/>
                </a:solidFill>
                <a:latin typeface="Calibri"/>
              </a:defRPr>
            </a:pPr>
            <a:r>
              <a:t>🧠 Sisyphus</a:t>
            </a:r>
          </a:p>
          <a:p>
            <a:pPr>
              <a:spcBef>
                <a:spcPts val="300"/>
              </a:spcBef>
              <a:defRPr sz="1100">
                <a:solidFill>
                  <a:srgbClr val="9090B0"/>
                </a:solidFill>
                <a:latin typeface="Calibri"/>
              </a:defRPr>
            </a:pPr>
            <a:r>
              <a:t>编排 &amp; 协调主调度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2926080"/>
            <a:ext cx="3474720" cy="1280160"/>
          </a:xfrm>
          <a:prstGeom prst="roundRect">
            <a:avLst>
              <a:gd name="adj" fmla="val 5000"/>
            </a:avLst>
          </a:prstGeom>
          <a:solidFill>
            <a:srgbClr val="252542"/>
          </a:solidFill>
          <a:ln w="317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73152"/>
          <a:lstStyle/>
          <a:p>
            <a:pPr algn="ctr">
              <a:defRPr sz="1500" b="1">
                <a:solidFill>
                  <a:srgbClr val="F5F5F5"/>
                </a:solidFill>
                <a:latin typeface="Calibri"/>
              </a:defRPr>
            </a:pPr>
            <a:r>
              <a:t>🔮 Oracle</a:t>
            </a:r>
          </a:p>
          <a:p>
            <a:pPr>
              <a:spcBef>
                <a:spcPts val="300"/>
              </a:spcBef>
              <a:defRPr sz="1100">
                <a:solidFill>
                  <a:srgbClr val="9090B0"/>
                </a:solidFill>
                <a:latin typeface="Calibri"/>
              </a:defRPr>
            </a:pPr>
            <a:r>
              <a:t>架构决策 &amp; 高 IQ 推理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2926080"/>
            <a:ext cx="3474720" cy="1280160"/>
          </a:xfrm>
          <a:prstGeom prst="roundRect">
            <a:avLst>
              <a:gd name="adj" fmla="val 5000"/>
            </a:avLst>
          </a:prstGeom>
          <a:solidFill>
            <a:srgbClr val="252542"/>
          </a:solidFill>
          <a:ln w="317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73152"/>
          <a:lstStyle/>
          <a:p>
            <a:pPr algn="ctr">
              <a:defRPr sz="1500" b="1">
                <a:solidFill>
                  <a:srgbClr val="F5F5F5"/>
                </a:solidFill>
                <a:latin typeface="Calibri"/>
              </a:defRPr>
            </a:pPr>
            <a:r>
              <a:t>⚒️ Hephaestus</a:t>
            </a:r>
          </a:p>
          <a:p>
            <a:pPr>
              <a:spcBef>
                <a:spcPts val="300"/>
              </a:spcBef>
              <a:defRPr sz="1100">
                <a:solidFill>
                  <a:srgbClr val="9090B0"/>
                </a:solidFill>
                <a:latin typeface="Calibri"/>
              </a:defRPr>
            </a:pPr>
            <a:r>
              <a:t>深度编码实现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572000"/>
            <a:ext cx="3474720" cy="1280160"/>
          </a:xfrm>
          <a:prstGeom prst="roundRect">
            <a:avLst>
              <a:gd name="adj" fmla="val 5000"/>
            </a:avLst>
          </a:prstGeom>
          <a:solidFill>
            <a:srgbClr val="252542"/>
          </a:solidFill>
          <a:ln w="317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73152"/>
          <a:lstStyle/>
          <a:p>
            <a:pPr algn="ctr">
              <a:defRPr sz="1500" b="1">
                <a:solidFill>
                  <a:srgbClr val="F5F5F5"/>
                </a:solidFill>
                <a:latin typeface="Calibri"/>
              </a:defRPr>
            </a:pPr>
            <a:r>
              <a:t>📚 Librarian</a:t>
            </a:r>
          </a:p>
          <a:p>
            <a:pPr>
              <a:spcBef>
                <a:spcPts val="300"/>
              </a:spcBef>
              <a:defRPr sz="1100">
                <a:solidFill>
                  <a:srgbClr val="9090B0"/>
                </a:solidFill>
                <a:latin typeface="Calibri"/>
              </a:defRPr>
            </a:pPr>
            <a:r>
              <a:t>文档 &amp; 研究查找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4572000"/>
            <a:ext cx="3474720" cy="1280160"/>
          </a:xfrm>
          <a:prstGeom prst="roundRect">
            <a:avLst>
              <a:gd name="adj" fmla="val 5000"/>
            </a:avLst>
          </a:prstGeom>
          <a:solidFill>
            <a:srgbClr val="252542"/>
          </a:solidFill>
          <a:ln w="317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73152"/>
          <a:lstStyle/>
          <a:p>
            <a:pPr algn="ctr">
              <a:defRPr sz="1500" b="1">
                <a:solidFill>
                  <a:srgbClr val="F5F5F5"/>
                </a:solidFill>
                <a:latin typeface="Calibri"/>
              </a:defRPr>
            </a:pPr>
            <a:r>
              <a:t>🎯 Prometheus</a:t>
            </a:r>
          </a:p>
          <a:p>
            <a:pPr>
              <a:spcBef>
                <a:spcPts val="300"/>
              </a:spcBef>
              <a:defRPr sz="1100">
                <a:solidFill>
                  <a:srgbClr val="9090B0"/>
                </a:solidFill>
                <a:latin typeface="Calibri"/>
              </a:defRPr>
            </a:pPr>
            <a:r>
              <a:t>项目规划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572000"/>
            <a:ext cx="3474720" cy="1280160"/>
          </a:xfrm>
          <a:prstGeom prst="roundRect">
            <a:avLst>
              <a:gd name="adj" fmla="val 5000"/>
            </a:avLst>
          </a:prstGeom>
          <a:solidFill>
            <a:srgbClr val="252542"/>
          </a:solidFill>
          <a:ln w="317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73152"/>
          <a:lstStyle/>
          <a:p>
            <a:pPr algn="ctr">
              <a:defRPr sz="1500" b="1">
                <a:solidFill>
                  <a:srgbClr val="F5F5F5"/>
                </a:solidFill>
                <a:latin typeface="Calibri"/>
              </a:defRPr>
            </a:pPr>
            <a:r>
              <a:t>🏋️ Atlas</a:t>
            </a:r>
          </a:p>
          <a:p>
            <a:pPr>
              <a:spcBef>
                <a:spcPts val="300"/>
              </a:spcBef>
              <a:defRPr sz="1100">
                <a:solidFill>
                  <a:srgbClr val="9090B0"/>
                </a:solidFill>
                <a:latin typeface="Calibri"/>
              </a:defRPr>
            </a:pPr>
            <a:r>
              <a:t>大规模重构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035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90B0"/>
                </a:solidFill>
                <a:latin typeface="Calibri"/>
              </a:defRPr>
            </a:pPr>
            <a:r>
              <a:t>💡 全局插件：C:\Users\86152\.config\opencode\plugins\oh-my-openagent@latest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6B35"/>
                </a:solidFill>
                <a:latin typeface="Calibri"/>
              </a:defRPr>
            </a:pPr>
            <a:r>
              <a:t>04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6B35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2743200" cy="50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F5F5"/>
                </a:solidFill>
                <a:latin typeface="Calibri"/>
              </a:defRPr>
            </a:pPr>
            <a:r>
              <a:t>Token 优化工具链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090B0"/>
                </a:solidFill>
                <a:latin typeface="Calibri"/>
              </a:defRPr>
            </a:pPr>
            <a:r>
              <a:t>减少对话 token 消耗，提升上下文利用率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645920" cy="27432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A1A2E"/>
                </a:solidFill>
                <a:latin typeface="Calibri"/>
              </a:defRPr>
            </a:pPr>
            <a:r>
              <a:t>RTK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90B0"/>
                </a:solidFill>
                <a:latin typeface="Calibri"/>
              </a:defRPr>
            </a:pPr>
            <a:r>
              <a:t>Rust Token Killer — CLI 输出压缩代理</a:t>
            </a:r>
            <a:br/>
            <a:br/>
            <a:r>
              <a:t>▸ 自动拦截 bash 输出并压缩</a:t>
            </a:r>
            <a:br/>
            <a:r>
              <a:t>▸ 减少 60–90% token 消耗</a:t>
            </a:r>
            <a:br/>
            <a:r>
              <a:t>▸ 二进制：AppData\Local\rtk\rtk.exe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2743200"/>
            <a:ext cx="1645920" cy="27432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A1A2E"/>
                </a:solidFill>
                <a:latin typeface="Calibri"/>
              </a:defRPr>
            </a:pPr>
            <a:r>
              <a:t>DCP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31089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90B0"/>
                </a:solidFill>
                <a:latin typeface="Calibri"/>
              </a:defRPr>
            </a:pPr>
            <a:r>
              <a:t>Dynamic Context Pruning</a:t>
            </a:r>
            <a:br/>
            <a:r>
              <a:t>动态上下文裁剪</a:t>
            </a:r>
            <a:br/>
            <a:br/>
            <a:r>
              <a:t>▸ 自动识别并移除过时的工具输出</a:t>
            </a:r>
            <a:br/>
            <a:r>
              <a:t>▸ 用高保真摘要替换</a:t>
            </a:r>
            <a:br/>
            <a:r>
              <a:t>▸ npm 包：@tarquinen/opencode-dcp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6B35"/>
                </a:solidFill>
                <a:latin typeface="Calibri"/>
              </a:defRPr>
            </a:pPr>
            <a:r>
              <a:t>05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6B35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2743200" cy="50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F5F5"/>
                </a:solidFill>
                <a:latin typeface="Calibri"/>
              </a:defRPr>
            </a:pPr>
            <a:r>
              <a:t>57 项技能库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090B0"/>
                </a:solidFill>
                <a:latin typeface="Calibri"/>
              </a:defRPr>
            </a:pPr>
            <a:r>
              <a:t>位于 C:\Users\86152\.claude\skills\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1645920" cy="27432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A1A2E"/>
                </a:solidFill>
                <a:latin typeface="Calibri"/>
              </a:defRPr>
            </a:pPr>
            <a:r>
              <a:t>始终可用（项目相关）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926080"/>
          <a:ext cx="5029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</a:tblGrid>
              <a:tr h="3810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6B35"/>
                          </a:solidFill>
                        </a:defRPr>
                      </a:pPr>
                      <a:r>
                        <a:t>技能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6B35"/>
                          </a:solidFill>
                        </a:defRPr>
                      </a:pPr>
                      <a:r>
                        <a:t>用途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springboot-patterns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090B0"/>
                          </a:solidFill>
                        </a:defRPr>
                      </a:pPr>
                      <a:r>
                        <a:t>Spring Boot 架构模式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java-coding-standards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090B0"/>
                          </a:solidFill>
                        </a:defRPr>
                      </a:pPr>
                      <a:r>
                        <a:t>Java 编码规范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frontend-patterns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090B0"/>
                          </a:solidFill>
                        </a:defRPr>
                      </a:pPr>
                      <a:r>
                        <a:t>前端开发模式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api-design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090B0"/>
                          </a:solidFill>
                        </a:defRPr>
                      </a:pPr>
                      <a:r>
                        <a:t>API 设计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backend-patterns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090B0"/>
                          </a:solidFill>
                        </a:defRPr>
                      </a:pPr>
                      <a:r>
                        <a:t>后端架构模式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0" y="2560320"/>
            <a:ext cx="1645920" cy="27432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A1A2E"/>
                </a:solidFill>
                <a:latin typeface="Calibri"/>
              </a:defRPr>
            </a:pPr>
            <a:r>
              <a:t>按需触发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0" y="2926080"/>
          <a:ext cx="5029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</a:tblGrid>
              <a:tr h="3810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6B35"/>
                          </a:solidFill>
                        </a:defRPr>
                      </a:pPr>
                      <a:r>
                        <a:t>技能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6B35"/>
                          </a:solidFill>
                        </a:defRPr>
                      </a:pPr>
                      <a:r>
                        <a:t>用途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springboot-tdd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090B0"/>
                          </a:solidFill>
                        </a:defRPr>
                      </a:pPr>
                      <a:r>
                        <a:t>Spring Boot TDD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e2e-testing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090B0"/>
                          </a:solidFill>
                        </a:defRPr>
                      </a:pPr>
                      <a:r>
                        <a:t>端到端测试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verification-loop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090B0"/>
                          </a:solidFill>
                        </a:defRPr>
                      </a:pPr>
                      <a:r>
                        <a:t>全面验证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frontend-design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090B0"/>
                          </a:solidFill>
                        </a:defRPr>
                      </a:pPr>
                      <a:r>
                        <a:t>前端设计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council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090B0"/>
                          </a:solidFill>
                        </a:defRPr>
                      </a:pPr>
                      <a:r>
                        <a:t>多视角决策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6B35"/>
                </a:solidFill>
                <a:latin typeface="Calibri"/>
              </a:defRPr>
            </a:pPr>
            <a:r>
              <a:t>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6B35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2743200" cy="50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F5F5"/>
                </a:solidFill>
                <a:latin typeface="Calibri"/>
              </a:defRPr>
            </a:pPr>
            <a:r>
              <a:t>MCP 服务器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090B0"/>
                </a:solidFill>
                <a:latin typeface="Calibri"/>
              </a:defRPr>
            </a:pPr>
            <a:r>
              <a:t>注册于 harness/opencode.jsonc 的 mcp 字段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74320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5486400"/>
                <a:gridCol w="3200400"/>
              </a:tblGrid>
              <a:tr h="4876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6B35"/>
                          </a:solidFill>
                        </a:defRPr>
                      </a:pPr>
                      <a:r>
                        <a:t>名称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6B35"/>
                          </a:solidFill>
                        </a:defRPr>
                      </a:pPr>
                      <a:r>
                        <a:t>命令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6B35"/>
                          </a:solidFill>
                        </a:defRPr>
                      </a:pPr>
                      <a:r>
                        <a:t>用途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t>postgres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090B0"/>
                          </a:solidFill>
                        </a:defRPr>
                      </a:pPr>
                      <a:r>
                        <a:t>@modelcontextprotocol/server-postgres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090B0"/>
                          </a:solidFill>
                        </a:defRPr>
                      </a:pPr>
                      <a:r>
                        <a:t>数据库查询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t>context7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090B0"/>
                          </a:solidFill>
                        </a:defRPr>
                      </a:pPr>
                      <a:r>
                        <a:t>@upstash/context7-mcp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090B0"/>
                          </a:solidFill>
                        </a:defRPr>
                      </a:pPr>
                      <a:r>
                        <a:t>实时框架文档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t>playwright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090B0"/>
                          </a:solidFill>
                        </a:defRPr>
                      </a:pPr>
                      <a:r>
                        <a:t>@playwright/mcp --browser chrome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090B0"/>
                          </a:solidFill>
                        </a:defRPr>
                      </a:pPr>
                      <a:r>
                        <a:t>浏览器自动化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t>filesystem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090B0"/>
                          </a:solidFill>
                        </a:defRPr>
                      </a:pPr>
                      <a:r>
                        <a:t>@modelcontextprotocol/server-filesystem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090B0"/>
                          </a:solidFill>
                        </a:defRPr>
                      </a:pPr>
                      <a:r>
                        <a:t>文件系统访问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t>github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090B0"/>
                          </a:solidFill>
                        </a:defRPr>
                      </a:pPr>
                      <a:r>
                        <a:t>@modelcontextprotocol/server-github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090B0"/>
                          </a:solidFill>
                        </a:defRPr>
                      </a:pPr>
                      <a:r>
                        <a:t>GitHub PR / Issues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6B35"/>
                </a:solidFill>
                <a:latin typeface="Calibri"/>
              </a:defRPr>
            </a:pPr>
            <a:r>
              <a:t>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6B35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2743200" cy="50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F5F5"/>
                </a:solidFill>
                <a:latin typeface="Calibri"/>
              </a:defRPr>
            </a:pPr>
            <a:r>
              <a:t>OpenCode 命令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090B0"/>
                </a:solidFill>
                <a:latin typeface="Calibri"/>
              </a:defRPr>
            </a:pPr>
            <a:r>
              <a:t>注册于 harness/opencode.jsonc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645920" cy="27432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A1A2E"/>
                </a:solidFill>
                <a:latin typeface="Calibri"/>
              </a:defRPr>
            </a:pPr>
            <a:r>
              <a:t>开发命令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090B0"/>
                </a:solidFill>
                <a:latin typeface="Calibri"/>
              </a:defRPr>
            </a:pPr>
            <a:r>
              <a:t>▸ opencode run dev — 启动全部开发环境</a:t>
            </a:r>
            <a:br/>
            <a:r>
              <a:t>▸ opencode run backend:run — 运行后端</a:t>
            </a:r>
            <a:br/>
            <a:r>
              <a:t>▸ opencode run frontend:dev — 启动前端</a:t>
            </a:r>
            <a:br/>
            <a:r>
              <a:t>▸ opencode run frontend:build — 构建前端</a:t>
            </a:r>
            <a:br/>
            <a:r>
              <a:t>▸ opencode run backend:build — 构建后端</a:t>
            </a:r>
            <a:br/>
            <a:r>
              <a:t>▸ opencode run test — 运行后端测试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2743200"/>
            <a:ext cx="1645920" cy="27432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A1A2E"/>
                </a:solidFill>
                <a:latin typeface="Calibri"/>
              </a:defRPr>
            </a:pPr>
            <a:r>
              <a:t>OMO 命令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31089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090B0"/>
                </a:solidFill>
                <a:latin typeface="Calibri"/>
              </a:defRPr>
            </a:pPr>
            <a:r>
              <a:t>▸ ultrawork / ulw &lt;任务&gt; — 多智能体编排</a:t>
            </a:r>
            <a:br/>
            <a:r>
              <a:t>▸ @oracle &lt;问题&gt; — 架构/决策分析</a:t>
            </a:r>
            <a:br/>
            <a:r>
              <a:t>▸ @librarian &lt;问题&gt; — 研究/资料查找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6B35"/>
                </a:solidFill>
                <a:latin typeface="Calibri"/>
              </a:defRPr>
            </a:pPr>
            <a:r>
              <a:t>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6B35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2743200" cy="50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F5F5"/>
                </a:solidFill>
                <a:latin typeface="Calibri"/>
              </a:defRPr>
            </a:pPr>
            <a:r>
              <a:t>项目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090B0"/>
                </a:solidFill>
                <a:latin typeface="Calibri"/>
              </a:defRPr>
            </a:pPr>
            <a:r>
              <a:t>定义于 harness/opencode.jsonc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560320"/>
          <a:ext cx="10515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8229600"/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6B35"/>
                          </a:solidFill>
                        </a:defRPr>
                      </a:pPr>
                      <a:r>
                        <a:t>Agent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6B35"/>
                          </a:solidFill>
                        </a:defRPr>
                      </a:pPr>
                      <a:r>
                        <a:t>技能配置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t>backend-dev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090B0"/>
                          </a:solidFill>
                        </a:defRPr>
                      </a:pPr>
                      <a:r>
                        <a:t>springboot-patterns, springboot-tdd, java-coding-standards, jpa-patterns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t>frontend-dev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090B0"/>
                          </a:solidFill>
                        </a:defRPr>
                      </a:pPr>
                      <a:r>
                        <a:t>frontend-patterns, coding-standards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t>fullstack-dev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090B0"/>
                          </a:solidFill>
                        </a:defRPr>
                      </a:pPr>
                      <a:r>
                        <a:t>springboot-patterns, springboot-tdd, java-coding-standards, frontend-patterns, e2e-testing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4480560"/>
            <a:ext cx="1645920" cy="27432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A1A2E"/>
                </a:solidFill>
                <a:latin typeface="Calibri"/>
              </a:defRPr>
            </a:pPr>
            <a:r>
              <a:t>配置文件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4846320"/>
          <a:ext cx="10515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7315200"/>
              </a:tblGrid>
              <a:tr h="2743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6B35"/>
                          </a:solidFill>
                        </a:defRPr>
                      </a:pPr>
                      <a:r>
                        <a:t>文件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6B35"/>
                          </a:solidFill>
                        </a:defRPr>
                      </a:pPr>
                      <a:r>
                        <a:t>作用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opencode.jsonc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090B0"/>
                          </a:solidFill>
                        </a:defRPr>
                      </a:pPr>
                      <a:r>
                        <a:t>项目核心配置（plugins/agents/commands/MCP）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CLAUDE.md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090B0"/>
                          </a:solidFill>
                        </a:defRPr>
                      </a:pPr>
                      <a:r>
                        <a:t>用户技术偏好 &amp; 使用指引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.opencode/permissions.jsonc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090B0"/>
                          </a:solidFill>
                        </a:defRPr>
                      </a:pPr>
                      <a:r>
                        <a:t>命令/域名白名单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F5F5"/>
                          </a:solidFill>
                        </a:defRPr>
                      </a:pPr>
                      <a:r>
                        <a:t>.opencode/hooks.jsonc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090B0"/>
                          </a:solidFill>
                        </a:defRPr>
                      </a:pPr>
                      <a:r>
                        <a:t>工具调用钩子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6B35"/>
                </a:solidFill>
                <a:latin typeface="Calibri"/>
              </a:defRPr>
            </a:pPr>
            <a:r>
              <a:t>09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6B35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2743200" cy="50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F5F5"/>
                </a:solidFill>
                <a:latin typeface="Calibri"/>
              </a:defRPr>
            </a:pPr>
            <a:r>
              <a:t>ECC 安装方式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090B0"/>
                </a:solidFill>
                <a:latin typeface="Calibri"/>
              </a:defRPr>
            </a:pPr>
            <a:r>
              <a:t>Everything Claude Code — 三种安装路径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2608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252542"/>
          </a:solidFill>
          <a:ln w="6350">
            <a:solidFill>
              <a:srgbClr val="3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73152"/>
          <a:lstStyle/>
          <a:p>
            <a:pPr algn="ctr">
              <a:defRPr sz="1500" b="1">
                <a:solidFill>
                  <a:srgbClr val="F5F5F5"/>
                </a:solidFill>
                <a:latin typeface="Calibri"/>
              </a:defRPr>
            </a:pPr>
            <a:r>
              <a:t>📦 推荐 — 官方 CLI</a:t>
            </a:r>
          </a:p>
          <a:p>
            <a:pPr>
              <a:spcBef>
                <a:spcPts val="300"/>
              </a:spcBef>
              <a:defRPr sz="1100">
                <a:solidFill>
                  <a:srgbClr val="9090B0"/>
                </a:solidFill>
                <a:latin typeface="Calibri"/>
              </a:defRPr>
            </a:pPr>
            <a:r>
              <a:t>npx claudepluginhub</a:t>
            </a:r>
          </a:p>
          <a:p>
            <a:pPr>
              <a:spcBef>
                <a:spcPts val="300"/>
              </a:spcBef>
              <a:defRPr sz="1100">
                <a:solidFill>
                  <a:srgbClr val="9090B0"/>
                </a:solidFill>
                <a:latin typeface="Calibri"/>
              </a:defRPr>
            </a:pPr>
            <a:r>
              <a:t>交互式选择技能和规则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292608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252542"/>
          </a:solidFill>
          <a:ln w="6350">
            <a:solidFill>
              <a:srgbClr val="3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73152"/>
          <a:lstStyle/>
          <a:p>
            <a:pPr algn="ctr">
              <a:defRPr sz="1500" b="1">
                <a:solidFill>
                  <a:srgbClr val="F5F5F5"/>
                </a:solidFill>
                <a:latin typeface="Calibri"/>
              </a:defRPr>
            </a:pPr>
            <a:r>
              <a:t>📁 项目级 — npm</a:t>
            </a:r>
          </a:p>
          <a:p>
            <a:pPr>
              <a:spcBef>
                <a:spcPts val="300"/>
              </a:spcBef>
              <a:defRPr sz="1100">
                <a:solidFill>
                  <a:srgbClr val="9090B0"/>
                </a:solidFill>
                <a:latin typeface="Calibri"/>
              </a:defRPr>
            </a:pPr>
            <a:r>
              <a:t>npm install -D ecc-universal</a:t>
            </a:r>
          </a:p>
          <a:p>
            <a:pPr>
              <a:spcBef>
                <a:spcPts val="300"/>
              </a:spcBef>
              <a:defRPr sz="1100">
                <a:solidFill>
                  <a:srgbClr val="9090B0"/>
                </a:solidFill>
                <a:latin typeface="Calibri"/>
              </a:defRPr>
            </a:pPr>
            <a:r>
              <a:t>项目隔离，版本锁定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292608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252542"/>
          </a:solidFill>
          <a:ln w="6350">
            <a:solidFill>
              <a:srgbClr val="3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73152"/>
          <a:lstStyle/>
          <a:p>
            <a:pPr algn="ctr">
              <a:defRPr sz="1500" b="1">
                <a:solidFill>
                  <a:srgbClr val="F5F5F5"/>
                </a:solidFill>
                <a:latin typeface="Calibri"/>
              </a:defRPr>
            </a:pPr>
            <a:r>
              <a:t>🖥️ 全局手动</a:t>
            </a:r>
          </a:p>
          <a:p>
            <a:pPr>
              <a:spcBef>
                <a:spcPts val="300"/>
              </a:spcBef>
              <a:defRPr sz="1100">
                <a:solidFill>
                  <a:srgbClr val="9090B0"/>
                </a:solidFill>
                <a:latin typeface="Calibri"/>
              </a:defRPr>
            </a:pPr>
            <a:r>
              <a:t>~/.claude/</a:t>
            </a:r>
          </a:p>
          <a:p>
            <a:pPr>
              <a:spcBef>
                <a:spcPts val="300"/>
              </a:spcBef>
              <a:defRPr sz="1100">
                <a:solidFill>
                  <a:srgbClr val="9090B0"/>
                </a:solidFill>
                <a:latin typeface="Calibri"/>
              </a:defRPr>
            </a:pPr>
            <a:r>
              <a:t>手动复制 skills/rules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120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090B0"/>
                </a:solidFill>
                <a:latin typeface="Calibri"/>
              </a:defRPr>
            </a:pPr>
            <a:r>
              <a:t>⚡ 本机状态：ECC v1.10.0 — 全局安装于 ~/.claude/（claude-home 模式）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6B35"/>
                </a:solidFill>
                <a:latin typeface="Calibri"/>
              </a:defRPr>
            </a:pPr>
            <a: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6B35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2743200" cy="50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F5F5"/>
                </a:solidFill>
                <a:latin typeface="Calibri"/>
              </a:defRPr>
            </a:pPr>
            <a:r>
              <a:t>开发约定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090B0"/>
                </a:solidFill>
                <a:latin typeface="Calibri"/>
              </a:defRPr>
            </a:pPr>
            <a:r>
              <a:t>技术栈与环境配置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51760"/>
            <a:ext cx="1645920" cy="27432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A1A2E"/>
                </a:solidFill>
                <a:latin typeface="Calibri"/>
              </a:defRPr>
            </a:pPr>
            <a:r>
              <a:t>技术栈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90B0"/>
                </a:solidFill>
                <a:latin typeface="Calibri"/>
              </a:defRPr>
            </a:pPr>
            <a:r>
              <a:t>▸ JDK 25 + Spring Boot 4.0.5，Gradle 构建</a:t>
            </a:r>
            <a:br/>
            <a:r>
              <a:t>▸ PostgreSQL 18 原生运行</a:t>
            </a:r>
            <a:br/>
            <a:r>
              <a:t>▸ DDL 自动更新：ddl-auto=update</a:t>
            </a:r>
            <a:br/>
            <a:r>
              <a:t>▸ Aliyun Maven 镜像加速</a:t>
            </a:r>
            <a:br/>
            <a:r>
              <a:t>▸ Windows PowerShell 环境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651760"/>
            <a:ext cx="1645920" cy="27432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A1A2E"/>
                </a:solidFill>
                <a:latin typeface="Calibri"/>
              </a:defRPr>
            </a:pPr>
            <a:r>
              <a:t>代码风格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0175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90B0"/>
                </a:solidFill>
                <a:latin typeface="Calibri"/>
              </a:defRPr>
            </a:pPr>
            <a:r>
              <a:t>▸ 不用注释</a:t>
            </a:r>
            <a:br/>
            <a:r>
              <a:t>▸ 不用 emoji（除非要求）</a:t>
            </a:r>
            <a:br/>
            <a:r>
              <a:t>▸ Conventional Commits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303520"/>
            <a:ext cx="1188720" cy="256032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090B0"/>
                </a:solidFill>
                <a:latin typeface="Calibri"/>
              </a:defRPr>
            </a:pPr>
            <a:r>
              <a:t>#SpringBoot4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57400" y="5303520"/>
            <a:ext cx="1188720" cy="256032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090B0"/>
                </a:solidFill>
                <a:latin typeface="Calibri"/>
              </a:defRPr>
            </a:pPr>
            <a:r>
              <a:t>#JPA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5303520"/>
            <a:ext cx="1188720" cy="256032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090B0"/>
                </a:solidFill>
                <a:latin typeface="Calibri"/>
              </a:defRPr>
            </a:pPr>
            <a:r>
              <a:t>#RBAC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59" y="5303520"/>
            <a:ext cx="1188720" cy="256032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090B0"/>
                </a:solidFill>
                <a:latin typeface="Calibri"/>
              </a:defRPr>
            </a:pPr>
            <a:r>
              <a:t>#NaiveUI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5303520"/>
            <a:ext cx="1188720" cy="256032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090B0"/>
                </a:solidFill>
                <a:latin typeface="Calibri"/>
              </a:defRPr>
            </a:pPr>
            <a:r>
              <a:t>#OMO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5303520"/>
            <a:ext cx="1188720" cy="256032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090B0"/>
                </a:solidFill>
                <a:latin typeface="Calibri"/>
              </a:defRPr>
            </a:pPr>
            <a:r>
              <a:t>#Superpowers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6B35"/>
                </a:solidFill>
                <a:latin typeface="Calibri"/>
              </a:defRPr>
            </a:pPr>
            <a: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6B35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2743200" cy="50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F5F5"/>
                </a:solidFill>
                <a:latin typeface="Calibri"/>
              </a:defRPr>
            </a:pPr>
            <a:r>
              <a:t>架构全景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26080"/>
            <a:ext cx="3200400" cy="1645920"/>
          </a:xfrm>
          <a:prstGeom prst="roundRect">
            <a:avLst>
              <a:gd name="adj" fmla="val 5000"/>
            </a:avLst>
          </a:prstGeom>
          <a:solidFill>
            <a:srgbClr val="252542"/>
          </a:solidFill>
          <a:ln w="6350">
            <a:solidFill>
              <a:srgbClr val="3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73152"/>
          <a:lstStyle/>
          <a:p>
            <a:pPr algn="ctr">
              <a:defRPr sz="1500" b="1">
                <a:solidFill>
                  <a:srgbClr val="F5F5F5"/>
                </a:solidFill>
                <a:latin typeface="Calibri"/>
              </a:defRPr>
            </a:pPr>
            <a:r>
              <a:t>🔧 后端</a:t>
            </a:r>
          </a:p>
          <a:p>
            <a:pPr>
              <a:spcBef>
                <a:spcPts val="300"/>
              </a:spcBef>
              <a:defRPr sz="1100">
                <a:solidFill>
                  <a:srgbClr val="9090B0"/>
                </a:solidFill>
                <a:latin typeface="Calibri"/>
              </a:defRPr>
            </a:pPr>
            <a:r>
              <a:t>Spring Boot 4 + JPA + PostgreSQL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59" y="2926080"/>
            <a:ext cx="3200400" cy="1645920"/>
          </a:xfrm>
          <a:prstGeom prst="roundRect">
            <a:avLst>
              <a:gd name="adj" fmla="val 5000"/>
            </a:avLst>
          </a:prstGeom>
          <a:solidFill>
            <a:srgbClr val="252542"/>
          </a:solidFill>
          <a:ln w="6350">
            <a:solidFill>
              <a:srgbClr val="3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73152"/>
          <a:lstStyle/>
          <a:p>
            <a:pPr algn="ctr">
              <a:defRPr sz="1500" b="1">
                <a:solidFill>
                  <a:srgbClr val="F5F5F5"/>
                </a:solidFill>
                <a:latin typeface="Calibri"/>
              </a:defRPr>
            </a:pPr>
            <a:r>
              <a:t>🎨 前端</a:t>
            </a:r>
          </a:p>
          <a:p>
            <a:pPr>
              <a:spcBef>
                <a:spcPts val="300"/>
              </a:spcBef>
              <a:defRPr sz="1100">
                <a:solidFill>
                  <a:srgbClr val="9090B0"/>
                </a:solidFill>
                <a:latin typeface="Calibri"/>
              </a:defRPr>
            </a:pPr>
            <a:r>
              <a:t>Vue 3 + Naive UI + Vite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2926080"/>
            <a:ext cx="3200400" cy="1645920"/>
          </a:xfrm>
          <a:prstGeom prst="roundRect">
            <a:avLst>
              <a:gd name="adj" fmla="val 5000"/>
            </a:avLst>
          </a:prstGeom>
          <a:solidFill>
            <a:srgbClr val="252542"/>
          </a:solidFill>
          <a:ln w="6350">
            <a:solidFill>
              <a:srgbClr val="3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73152"/>
          <a:lstStyle/>
          <a:p>
            <a:pPr algn="ctr">
              <a:defRPr sz="1500" b="1">
                <a:solidFill>
                  <a:srgbClr val="F5F5F5"/>
                </a:solidFill>
                <a:latin typeface="Calibri"/>
              </a:defRPr>
            </a:pPr>
            <a:r>
              <a:t>🤖 智能体</a:t>
            </a:r>
          </a:p>
          <a:p>
            <a:pPr>
              <a:spcBef>
                <a:spcPts val="300"/>
              </a:spcBef>
              <a:defRPr sz="1100">
                <a:solidFill>
                  <a:srgbClr val="9090B0"/>
                </a:solidFill>
                <a:latin typeface="Calibri"/>
              </a:defRPr>
            </a:pPr>
            <a:r>
              <a:t>OMO 6 Agent 多模型编排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937760"/>
            <a:ext cx="3200400" cy="1645920"/>
          </a:xfrm>
          <a:prstGeom prst="roundRect">
            <a:avLst>
              <a:gd name="adj" fmla="val 5000"/>
            </a:avLst>
          </a:prstGeom>
          <a:solidFill>
            <a:srgbClr val="252542"/>
          </a:solidFill>
          <a:ln w="6350">
            <a:solidFill>
              <a:srgbClr val="3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73152"/>
          <a:lstStyle/>
          <a:p>
            <a:pPr algn="ctr">
              <a:defRPr sz="1500" b="1">
                <a:solidFill>
                  <a:srgbClr val="F5F5F5"/>
                </a:solidFill>
                <a:latin typeface="Calibri"/>
              </a:defRPr>
            </a:pPr>
            <a:r>
              <a:t>📦 插件</a:t>
            </a:r>
          </a:p>
          <a:p>
            <a:pPr>
              <a:spcBef>
                <a:spcPts val="300"/>
              </a:spcBef>
              <a:defRPr sz="1100">
                <a:solidFill>
                  <a:srgbClr val="9090B0"/>
                </a:solidFill>
                <a:latin typeface="Calibri"/>
              </a:defRPr>
            </a:pPr>
            <a:r>
              <a:t>Superpowers + ECC + DCP + RTK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4937760"/>
            <a:ext cx="3200400" cy="1645920"/>
          </a:xfrm>
          <a:prstGeom prst="roundRect">
            <a:avLst>
              <a:gd name="adj" fmla="val 5000"/>
            </a:avLst>
          </a:prstGeom>
          <a:solidFill>
            <a:srgbClr val="252542"/>
          </a:solidFill>
          <a:ln w="6350">
            <a:solidFill>
              <a:srgbClr val="3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73152"/>
          <a:lstStyle/>
          <a:p>
            <a:pPr algn="ctr">
              <a:defRPr sz="1500" b="1">
                <a:solidFill>
                  <a:srgbClr val="F5F5F5"/>
                </a:solidFill>
                <a:latin typeface="Calibri"/>
              </a:defRPr>
            </a:pPr>
            <a:r>
              <a:t>🔌 MCP</a:t>
            </a:r>
          </a:p>
          <a:p>
            <a:pPr>
              <a:spcBef>
                <a:spcPts val="300"/>
              </a:spcBef>
              <a:defRPr sz="1100">
                <a:solidFill>
                  <a:srgbClr val="9090B0"/>
                </a:solidFill>
                <a:latin typeface="Calibri"/>
              </a:defRPr>
            </a:pPr>
            <a:r>
              <a:t>5 个服务器扩展能力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4937760"/>
            <a:ext cx="3200400" cy="1645920"/>
          </a:xfrm>
          <a:prstGeom prst="roundRect">
            <a:avLst>
              <a:gd name="adj" fmla="val 5000"/>
            </a:avLst>
          </a:prstGeom>
          <a:solidFill>
            <a:srgbClr val="252542"/>
          </a:solidFill>
          <a:ln w="6350">
            <a:solidFill>
              <a:srgbClr val="3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73152"/>
          <a:lstStyle/>
          <a:p>
            <a:pPr algn="ctr">
              <a:defRPr sz="1500" b="1">
                <a:solidFill>
                  <a:srgbClr val="F5F5F5"/>
                </a:solidFill>
                <a:latin typeface="Calibri"/>
              </a:defRPr>
            </a:pPr>
            <a:r>
              <a:t>📐 约定</a:t>
            </a:r>
          </a:p>
          <a:p>
            <a:pPr>
              <a:spcBef>
                <a:spcPts val="300"/>
              </a:spcBef>
              <a:defRPr sz="1100">
                <a:solidFill>
                  <a:srgbClr val="9090B0"/>
                </a:solidFill>
                <a:latin typeface="Calibri"/>
              </a:defRPr>
            </a:pPr>
            <a:r>
              <a:t>TDD + 80% 覆盖 + 安全优先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6B35"/>
                </a:solidFill>
                <a:latin typeface="Calibri"/>
              </a:defRPr>
            </a:pPr>
            <a: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937760" y="1828800"/>
            <a:ext cx="1645920" cy="27432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A1A2E"/>
                </a:solidFill>
                <a:latin typeface="Calibri"/>
              </a:defRPr>
            </a:pPr>
            <a:r>
              <a:t>HARNESS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5F5F5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9319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090B0"/>
                </a:solidFill>
                <a:latin typeface="Calibri"/>
              </a:defRPr>
            </a:pPr>
            <a:r>
              <a:t>全栈 Spring Boot 4 + Vue 3 · OMO 多智能体 · Superpowers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84632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090B0"/>
                </a:solidFill>
                <a:latin typeface="Calibri"/>
              </a:defRPr>
            </a:pPr>
            <a:r>
              <a:t>← 方向键翻页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6B35"/>
                </a:solidFill>
                <a:latin typeface="Calibri"/>
              </a:defRPr>
            </a:pPr>
            <a: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